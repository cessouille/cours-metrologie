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C9623D4-DE48-48DD-A540-8870D9639A4F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52600" y="419040"/>
            <a:ext cx="24760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INFRES 2A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52600" y="1104840"/>
            <a:ext cx="7238520" cy="1428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Métrologie, Prometheus et Grafana</a:t>
            </a:r>
            <a:endParaRPr lang="fr-FR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90400" y="2781360"/>
            <a:ext cx="685764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Cours 1 - déployer et comprendre une stack de monitoring Kubernetes avec des manifests simples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90400" y="3733920"/>
            <a:ext cx="1428480" cy="323640"/>
          </a:xfrm>
          <a:prstGeom prst="rect">
            <a:avLst/>
          </a:prstGeom>
          <a:solidFill>
            <a:srgbClr val="1F2937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04880" y="3800520"/>
            <a:ext cx="119988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2152800" y="3733920"/>
            <a:ext cx="1218960" cy="323640"/>
          </a:xfrm>
          <a:prstGeom prst="rect">
            <a:avLst/>
          </a:prstGeom>
          <a:solidFill>
            <a:srgbClr val="1F2937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266920" y="3800520"/>
            <a:ext cx="990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Grafana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505320" y="3733920"/>
            <a:ext cx="2171520" cy="323640"/>
          </a:xfrm>
          <a:prstGeom prst="rect">
            <a:avLst/>
          </a:prstGeom>
          <a:solidFill>
            <a:srgbClr val="1F2937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619440" y="3800520"/>
            <a:ext cx="19429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Kubernetes manifests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810400" y="3733920"/>
            <a:ext cx="1638000" cy="323640"/>
          </a:xfrm>
          <a:prstGeom prst="rect">
            <a:avLst/>
          </a:prstGeom>
          <a:solidFill>
            <a:srgbClr val="1F2937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924520" y="3800520"/>
            <a:ext cx="140940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Sans Helm en TP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90400" y="4857840"/>
            <a:ext cx="2342880" cy="990360"/>
          </a:xfrm>
          <a:prstGeom prst="rect">
            <a:avLst/>
          </a:prstGeom>
          <a:solidFill>
            <a:srgbClr val="172033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62120" y="5029200"/>
            <a:ext cx="1999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Collecter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62120" y="5600880"/>
            <a:ext cx="1999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scrape /metrics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333600" y="4857840"/>
            <a:ext cx="2342880" cy="990360"/>
          </a:xfrm>
          <a:prstGeom prst="rect">
            <a:avLst/>
          </a:prstGeom>
          <a:solidFill>
            <a:srgbClr val="172033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505320" y="5029200"/>
            <a:ext cx="1999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Analyser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505320" y="5600880"/>
            <a:ext cx="1999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PromQL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076800" y="4857840"/>
            <a:ext cx="2342880" cy="990360"/>
          </a:xfrm>
          <a:prstGeom prst="rect">
            <a:avLst/>
          </a:prstGeom>
          <a:solidFill>
            <a:srgbClr val="172033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248520" y="5029200"/>
            <a:ext cx="1999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Visualiser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248520" y="5600880"/>
            <a:ext cx="1999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dashboards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8820000" y="4857840"/>
            <a:ext cx="2342880" cy="990360"/>
          </a:xfrm>
          <a:prstGeom prst="rect">
            <a:avLst/>
          </a:prstGeom>
          <a:solidFill>
            <a:srgbClr val="172033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8991720" y="5029200"/>
            <a:ext cx="1999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Alerter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991720" y="5600880"/>
            <a:ext cx="1999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Alertmanager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OBJECTIFS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À la fin du cours, un développeur sait rendre son service observable.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 but n'est pas de devenir ops : c'est de savoir mesurer, lire et défendre le comportement d'un microservice.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Expliquer le rôle des métriques dans l'observabilité.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Déployer Prometheus, Alertmanager, exporters et Grafana en YAML.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Instrumenter une application via un endpoint /metrics.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Construire un dashboard utile pour diagnostiquer.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572160" y="2362320"/>
            <a:ext cx="4000320" cy="139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743880" y="2495520"/>
            <a:ext cx="36572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POSTURE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743880" y="2724120"/>
            <a:ext cx="3657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Observer avant de deviner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743880" y="3200400"/>
            <a:ext cx="365724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Un incident se traite avec des signaux, pas seulement avec une intuition.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572160" y="4057560"/>
            <a:ext cx="4000320" cy="139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743880" y="4191120"/>
            <a:ext cx="36572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LIVRABLE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743880" y="4419720"/>
            <a:ext cx="3657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Rendre les sources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743880" y="4896000"/>
            <a:ext cx="365724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Les manifests et le dashboard deviennent les preuves de compréhension.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OBSERVABILITÉ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Métriques, logs et traces ne répondent pas aux mêmes questions.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 et Grafana couvrent surtout les métriques ; ELK prendra le relais pour les logs au cours 2.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23960" y="2571840"/>
            <a:ext cx="3085920" cy="2428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52560" y="2800440"/>
            <a:ext cx="26287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6A34A"/>
                </a:solidFill>
                <a:effectLst/>
                <a:uFillTx/>
                <a:latin typeface="Aptos Display"/>
                <a:ea typeface="Aptos Display"/>
              </a:rPr>
              <a:t>Métriques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52560" y="3371760"/>
            <a:ext cx="26287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Combien ? À quelle vitesse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52560" y="4114800"/>
            <a:ext cx="26287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requêtes/s, latence p95, CPU, pods disponibles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343400" y="2571840"/>
            <a:ext cx="3085920" cy="2428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572000" y="2800440"/>
            <a:ext cx="26287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97706"/>
                </a:solidFill>
                <a:effectLst/>
                <a:uFillTx/>
                <a:latin typeface="Aptos Display"/>
                <a:ea typeface="Aptos Display"/>
              </a:rPr>
              <a:t>Logs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0" y="3371760"/>
            <a:ext cx="26287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Que s'est-il passé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72000" y="4114800"/>
            <a:ext cx="26287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stack trace, utilisateur, payload refusé, message métier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962840" y="2571840"/>
            <a:ext cx="3085920" cy="2428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191440" y="2800440"/>
            <a:ext cx="26287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2563EB"/>
                </a:solidFill>
                <a:effectLst/>
                <a:uFillTx/>
                <a:latin typeface="Aptos Display"/>
                <a:ea typeface="Aptos Display"/>
              </a:rPr>
              <a:t>Traces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191440" y="3371760"/>
            <a:ext cx="262872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Quel chemin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191440" y="4114800"/>
            <a:ext cx="2628720" cy="571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API A → service B → base C, durée par étape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914400" y="5562720"/>
            <a:ext cx="102866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Un dashboard répond à une question. Il ne doit pas être une galerie de graphes.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KUBERNETES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Kubernetes transforme un conteneur en service réplicable et adressable.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Pour monitorer proprement, il faut suivre les objets stables plutôt que les IP éphémères.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66720" y="3000240"/>
            <a:ext cx="1999800" cy="129492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38080" y="317196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Deployment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38080" y="3724200"/>
            <a:ext cx="165708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décrit l'état voulu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743200" y="3419640"/>
            <a:ext cx="39960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162240" y="3000240"/>
            <a:ext cx="1999800" cy="129492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333600" y="317196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ReplicaSet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333600" y="3724200"/>
            <a:ext cx="165708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maintient le nombre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238720" y="3419640"/>
            <a:ext cx="39960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657760" y="3000240"/>
            <a:ext cx="1999800" cy="129492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829480" y="317196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Pods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829480" y="3724200"/>
            <a:ext cx="165708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exécutent les conteneurs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734240" y="3419640"/>
            <a:ext cx="39960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153280" y="3000240"/>
            <a:ext cx="1999800" cy="129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325000" y="317196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Service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325000" y="3724200"/>
            <a:ext cx="165708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donne une adresse stable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52560" y="5219640"/>
            <a:ext cx="1028664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Dans le TP, Prometheus ne surveille pas une IP de Pod : il découvre des objets Kubernetes et suit les labels/annotations.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CONFIGURATION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ConfigMap et RBAC font partie du monitoring, pas des détails administratifs.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 et kube-state-metrics doivent lire l'état du cluster pour découvrir et décrire les cibles.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ConfigMap : prometheus.yml, règles d'alerte, datasource Grafana.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ServiceAccount : identité portée par un Pod.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ClusterRole : droits de lecture sur pods, services, endpoints, nodes.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ClusterRoleBinding : rattache les droits à l'identité.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840000" y="2133360"/>
            <a:ext cx="3657240" cy="1485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020000" y="2340000"/>
            <a:ext cx="33145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POINT DE CONTRÔLE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020000" y="2568600"/>
            <a:ext cx="331452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Si kube-state-metrics échoue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020000" y="3044880"/>
            <a:ext cx="331452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Commencer par vérifier le ServiceAccount, le ClusterRoleBinding et les logs du pod.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MÉTRIQUES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Une bonne stack mesure le noeud, le cluster, le code et le métier.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Chaque famille répond à une question différente ; les mélanger sans intention crée du bruit.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52600" y="2610000"/>
            <a:ext cx="2476080" cy="219024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23960" y="2743200"/>
            <a:ext cx="2133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SYSTÈME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23960" y="2971800"/>
            <a:ext cx="21333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Noeud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23960" y="3600360"/>
            <a:ext cx="2133360" cy="93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CPU, mémoire, disque, réseau. Source principale : node-exporter.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409920" y="2610000"/>
            <a:ext cx="2476080" cy="219024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581280" y="2743200"/>
            <a:ext cx="2133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891B2"/>
                </a:solidFill>
                <a:effectLst/>
                <a:uFillTx/>
                <a:latin typeface="Aptos"/>
                <a:ea typeface="Aptos"/>
              </a:rPr>
              <a:t>CLUSTER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581280" y="2971800"/>
            <a:ext cx="21333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Kubernetes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581280" y="3600360"/>
            <a:ext cx="2133360" cy="93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Pods, Deployments, Nodes, Jobs. Source principale : kube-state-metrics.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267600" y="2610000"/>
            <a:ext cx="2476080" cy="219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438960" y="2743200"/>
            <a:ext cx="2133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APPLICATION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438960" y="2971800"/>
            <a:ext cx="21333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Code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438960" y="3600360"/>
            <a:ext cx="2133360" cy="93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Requêtes, erreurs, latence, files, dépendances. Source : /metrics.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124920" y="2610000"/>
            <a:ext cx="2476080" cy="219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296280" y="2743200"/>
            <a:ext cx="2133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MÉTIER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296280" y="2971800"/>
            <a:ext cx="21333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Usage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296280" y="3600360"/>
            <a:ext cx="2133360" cy="933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Commandes, paiements, imports, documents, parcours fonctionnels.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62120" y="5524560"/>
            <a:ext cx="1066752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Une stack utile couvre ces quatre niveaux, mais le développeur doit surtout maîtriser les métriques applicatives et métier.</a:t>
            </a:r>
            <a:endParaRPr lang="fr-FR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Prometheus stocke des séries temporelles numériques, pas des événements.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Une métrique est un nom, des labels et des valeurs horodatées.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66720" y="2724120"/>
            <a:ext cx="1999800" cy="14284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38080" y="289548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Targets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38080" y="3524400"/>
            <a:ext cx="1657080" cy="475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services, pods, exporters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743200" y="32385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3124080" y="2724120"/>
            <a:ext cx="1999800" cy="142848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295800" y="289548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Scrape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295800" y="3524400"/>
            <a:ext cx="1657080" cy="475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HTTP GET /metrics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200560" y="32385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5581800" y="2724120"/>
            <a:ext cx="1999800" cy="142848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753160" y="289548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TSDB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753160" y="3524400"/>
            <a:ext cx="1657080" cy="475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séries temporelles locales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658280" y="3238560"/>
            <a:ext cx="39960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039160" y="2724120"/>
            <a:ext cx="1999800" cy="1428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8210520" y="289548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PromQL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8210520" y="3524400"/>
            <a:ext cx="1657080" cy="475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requêtes, règles, alertes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200240" y="4896000"/>
            <a:ext cx="9791280" cy="5522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371600" y="5048280"/>
            <a:ext cx="944856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http_requests_total{method="GET",code="200",service="demo-app"} 1234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TYPES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B7F7C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Counter, gauge et histogram : choisir le type avant de coder.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7DEE6"/>
                </a:solidFill>
                <a:effectLst/>
                <a:uFillTx/>
                <a:latin typeface="Aptos"/>
                <a:ea typeface="Aptos"/>
              </a:rPr>
              <a:t>Le type de métrique conditionne les requêtes PromQL et la qualité du dashboard.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5800" y="2619360"/>
            <a:ext cx="2361960" cy="2342880"/>
          </a:xfrm>
          <a:prstGeom prst="rect">
            <a:avLst/>
          </a:prstGeom>
          <a:solidFill>
            <a:srgbClr val="172033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57160" y="2752560"/>
            <a:ext cx="20188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AUGMENTE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57160" y="2981160"/>
            <a:ext cx="20188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Counter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857160" y="3571920"/>
            <a:ext cx="2018880" cy="100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Nombre total de requêtes, erreurs ou traitements. À lire avec rate() ou increase().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57160" y="5143680"/>
            <a:ext cx="2018880" cy="45684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028880" y="5295960"/>
            <a:ext cx="16761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rate(...[5m])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448080" y="2619360"/>
            <a:ext cx="2361960" cy="2342880"/>
          </a:xfrm>
          <a:prstGeom prst="rect">
            <a:avLst/>
          </a:prstGeom>
          <a:solidFill>
            <a:srgbClr val="172033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619440" y="2752560"/>
            <a:ext cx="20188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VARIE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619440" y="2981160"/>
            <a:ext cx="20188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Gauge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619440" y="3571920"/>
            <a:ext cx="2018880" cy="100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Valeur qui monte et descend : mémoire, connexions, pods disponibles.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619440" y="5143680"/>
            <a:ext cx="2018880" cy="45684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691440" y="5295960"/>
            <a:ext cx="18475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kube_pod_status_phase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210360" y="2619360"/>
            <a:ext cx="2361960" cy="2342880"/>
          </a:xfrm>
          <a:prstGeom prst="rect">
            <a:avLst/>
          </a:prstGeom>
          <a:solidFill>
            <a:srgbClr val="172033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381720" y="2752560"/>
            <a:ext cx="20188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DISTRIBUE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381720" y="2981160"/>
            <a:ext cx="20188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Histogram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381720" y="3571920"/>
            <a:ext cx="2018880" cy="100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Latence ou taille de réponse par buckets. Permet les percentiles.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381720" y="5143680"/>
            <a:ext cx="2018880" cy="45684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453720" y="5295960"/>
            <a:ext cx="184752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histogram_quantile()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8972640" y="2619360"/>
            <a:ext cx="2361960" cy="2342880"/>
          </a:xfrm>
          <a:prstGeom prst="rect">
            <a:avLst/>
          </a:prstGeom>
          <a:solidFill>
            <a:srgbClr val="172033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9144000" y="2752560"/>
            <a:ext cx="20188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À DISCUTER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9144000" y="2981160"/>
            <a:ext cx="20188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Summary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9144000" y="3571920"/>
            <a:ext cx="2018880" cy="1009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Quantiles côté application, moins pratique à agréger entre réplicas.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8820000" y="5143680"/>
            <a:ext cx="2880000" cy="45684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8964000" y="5292000"/>
            <a:ext cx="288000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import_duration_seconds{quantile="0.9"}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RED METHOD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RED donne le premier dashboard utile d'un service HTTP.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Rate, Errors, Duration : trois questions pour savoir si l'utilisateur souffre.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Rate : combien de requêtes arrivent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Errors : quelle proportion échoue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Duration : combien de temps les requêtes prennent-elles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C'est le socle applicatif demandé dans le TP.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572160" y="2476440"/>
            <a:ext cx="4095360" cy="85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743880" y="2610000"/>
            <a:ext cx="37526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RATE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6743880" y="2838600"/>
            <a:ext cx="375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sum(rate(http_requests_total[1m]))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572160" y="3581280"/>
            <a:ext cx="4095360" cy="85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743880" y="3714840"/>
            <a:ext cx="37526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ERRORS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743880" y="3943440"/>
            <a:ext cx="375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rate({code=~"4..|5.."}[5m]) / rate(total[5m])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572160" y="4686480"/>
            <a:ext cx="4095360" cy="85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743880" y="4819680"/>
            <a:ext cx="37526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DURATION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743880" y="5048280"/>
            <a:ext cx="375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histogram_quantile(0.95, ...bucket[5m])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USE + SLO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USE et SLO relient les ressources à un objectif de service.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Une ressource saturée n'est intéressante que si elle menace le service rendu.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USE : Utilization, Saturation, Errors.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SLI : indicateur mesurable de niveau de service.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SLO : objectif explicite sur une période.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Exemple : 99,5 % des requêtes réussies sur 30 jours.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6591240" y="2400480"/>
            <a:ext cx="4000320" cy="131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762600" y="2533680"/>
            <a:ext cx="36572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RESSOURCE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762600" y="2762280"/>
            <a:ext cx="3657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CPU à 95 %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762600" y="3238560"/>
            <a:ext cx="36572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Signal utile si la latence ou les erreurs augmentent.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591240" y="4038480"/>
            <a:ext cx="4000320" cy="131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762600" y="4172040"/>
            <a:ext cx="36572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SERVICE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6762600" y="4400640"/>
            <a:ext cx="36572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p95 &gt; 500 ms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6762600" y="4876920"/>
            <a:ext cx="36572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Signal directement lié à l'expérience utilisateur.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POURQUOI PROMETHEUS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Prometheus est adapté aux microservices dynamiques.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Son modèle pull, ses labels et PromQL sont particulièrement pratiques dans Kubernetes.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Chaque cible expose ses métriques en HTTP.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Prometheus détecte aussi les cibles down.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Les labels permettent de filtrer par service, namespace, pod.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PromQL transforme les compteurs en signaux temporels.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572160" y="2362320"/>
            <a:ext cx="4114440" cy="139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743880" y="2495520"/>
            <a:ext cx="37717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FORCE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743880" y="2724120"/>
            <a:ext cx="377172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Multi-dimensionnel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743880" y="3200400"/>
            <a:ext cx="377172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Même métrique, plusieurs labels : service, code, méthode, instance.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6572160" y="4057560"/>
            <a:ext cx="4114440" cy="139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6743880" y="4191120"/>
            <a:ext cx="37717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LIMITE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6743880" y="4419720"/>
            <a:ext cx="377172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Pas pour tout stocker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6743880" y="4896000"/>
            <a:ext cx="3771720" cy="399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Les détails unitaires appartiennent aux logs, pas aux labels Prometheus.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DISCOVERY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La découverte Kubernetes remplace la liste statique de Pods.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 TP utilise les annotations pour décider ce que Prometheus doit scraper.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85800" y="2495520"/>
            <a:ext cx="5067000" cy="28573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57160" y="2647800"/>
            <a:ext cx="4723920" cy="2590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metadata: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annotations: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prometheus.io/scrape: "true"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prometheus.io/path: /metrics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prometheus.io/port: "8080"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305400" y="247644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477120" y="2647800"/>
            <a:ext cx="441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1. Kubernetes SD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477120" y="2952720"/>
            <a:ext cx="4419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 observe les pods, services et endpoints.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305400" y="335268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477120" y="3524400"/>
            <a:ext cx="441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2. Relabel keep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477120" y="3828960"/>
            <a:ext cx="4419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On garde seulement les objets annotés scrape=true.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305400" y="422928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477120" y="4400640"/>
            <a:ext cx="441936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3. Target final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477120" y="4705200"/>
            <a:ext cx="441936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 reconstruit l'adresse host:port à scraper.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EXPORTERS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Trois sources couvrent noeud, cluster et code applicatif.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 dashboard devient lisible quand chaque métrique a une provenance claire.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node-exporter : métriques Linux de chaque noeud.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kube-state-metrics : état des objets Kubernetes.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demo-app : métriques custom exposées par le service.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572160" y="2362320"/>
            <a:ext cx="4114440" cy="81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743880" y="2495520"/>
            <a:ext cx="37717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NOEUD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743880" y="2724120"/>
            <a:ext cx="377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node_cpu_seconds_total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572160" y="3429000"/>
            <a:ext cx="4114440" cy="81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743880" y="3562200"/>
            <a:ext cx="37717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891B2"/>
                </a:solidFill>
                <a:effectLst/>
                <a:uFillTx/>
                <a:latin typeface="Aptos"/>
                <a:ea typeface="Aptos"/>
              </a:rPr>
              <a:t>CLUSTER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743880" y="3790800"/>
            <a:ext cx="377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kube_deployment_status_replicas_available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572160" y="4495680"/>
            <a:ext cx="4114440" cy="81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743880" y="4629240"/>
            <a:ext cx="377172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APP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743880" y="4857840"/>
            <a:ext cx="37717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http_requests_total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DÉPLOIEMENT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Le choix de déploiement change ce que les étudiants apprennent.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09480" y="2324160"/>
            <a:ext cx="16189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Méthode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2381400" y="2324160"/>
            <a:ext cx="266652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Ce que l'on gagne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5286240" y="2324160"/>
            <a:ext cx="257148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Ce que l'on perd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8096400" y="2324160"/>
            <a:ext cx="32382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Bon usage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95360" y="2552760"/>
            <a:ext cx="11124720" cy="571320"/>
          </a:xfrm>
          <a:prstGeom prst="rect">
            <a:avLst/>
          </a:prstGeom>
          <a:solidFill>
            <a:srgbClr val="F0F4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09480" y="2647800"/>
            <a:ext cx="16189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Manifests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381400" y="2647800"/>
            <a:ext cx="2666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Objets visibles, corrigibles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5286240" y="2647800"/>
            <a:ext cx="2571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Verbeux, maintenance manuelle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8096400" y="264780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TP et compréhension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495360" y="3162240"/>
            <a:ext cx="11124720" cy="5713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609480" y="3257640"/>
            <a:ext cx="16189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Helm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2381400" y="3257640"/>
            <a:ext cx="2666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Rapide, standard, configurable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5286240" y="3257640"/>
            <a:ext cx="2571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Cache beaucoup de YAML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096400" y="325764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Équipe qui maîtrise les charts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495360" y="3772080"/>
            <a:ext cx="11124720" cy="571320"/>
          </a:xfrm>
          <a:prstGeom prst="rect">
            <a:avLst/>
          </a:prstGeom>
          <a:solidFill>
            <a:srgbClr val="F0F4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609480" y="3867120"/>
            <a:ext cx="16189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Operator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381400" y="3867120"/>
            <a:ext cx="2666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CRD, automatisation, prod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5286240" y="3867120"/>
            <a:ext cx="2571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Plus abstrait, plus complexe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8096400" y="386712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Plateforme Kubernetes mature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495360" y="4381560"/>
            <a:ext cx="11124720" cy="57132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609480" y="4476600"/>
            <a:ext cx="16189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kube-prom-stack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2381400" y="4476600"/>
            <a:ext cx="2666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Stack complète + dashboards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5286240" y="4476600"/>
            <a:ext cx="2571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Trop magique pour débuter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096400" y="447660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Bootstrap avancé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495360" y="4991040"/>
            <a:ext cx="11124720" cy="571320"/>
          </a:xfrm>
          <a:prstGeom prst="rect">
            <a:avLst/>
          </a:prstGeom>
          <a:solidFill>
            <a:srgbClr val="F0F4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609480" y="5086440"/>
            <a:ext cx="16189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Managé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2381400" y="5086440"/>
            <a:ext cx="2666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Moins d'exploitation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286240" y="5086440"/>
            <a:ext cx="2571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Coût, dépendance fournisseur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8096400" y="508644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Entreprise / cloud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800280" y="6000840"/>
            <a:ext cx="105724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Le TP sera fait  avec manifests manuels pour rendre les objets vérifiables, mais Helm reste un standard à connaître.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TP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B7F7C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Le TP montre la stack complète, sans Operator.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7DEE6"/>
                </a:solidFill>
                <a:effectLst/>
                <a:uFillTx/>
                <a:latin typeface="Aptos"/>
                <a:ea typeface="Aptos"/>
              </a:rPr>
              <a:t>Les étudiants rendent leurs manifests pour que la correction valide les sources.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685800" y="2857680"/>
            <a:ext cx="1999800" cy="1104480"/>
          </a:xfrm>
          <a:prstGeom prst="rect">
            <a:avLst/>
          </a:prstGeom>
          <a:solidFill>
            <a:srgbClr val="172033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5716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Grafana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857160" y="356220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Visualise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3371760" y="2857680"/>
            <a:ext cx="1999800" cy="1104480"/>
          </a:xfrm>
          <a:prstGeom prst="rect">
            <a:avLst/>
          </a:prstGeom>
          <a:solidFill>
            <a:srgbClr val="172033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354348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Prometheus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3543480" y="356220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Scrape et stocke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6058080" y="2095560"/>
            <a:ext cx="1999800" cy="1104480"/>
          </a:xfrm>
          <a:prstGeom prst="rect">
            <a:avLst/>
          </a:prstGeom>
          <a:solidFill>
            <a:srgbClr val="172033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6229440" y="226692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Alertmanager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6229440" y="280044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Reçoit les alertes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6058080" y="3619440"/>
            <a:ext cx="1999800" cy="1104480"/>
          </a:xfrm>
          <a:prstGeom prst="rect">
            <a:avLst/>
          </a:prstGeom>
          <a:solidFill>
            <a:srgbClr val="172033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6229440" y="379080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Exporters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6229440" y="432432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node + Kubernetes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8744040" y="2857680"/>
            <a:ext cx="1999800" cy="1104480"/>
          </a:xfrm>
          <a:prstGeom prst="rect">
            <a:avLst/>
          </a:prstGeom>
          <a:solidFill>
            <a:srgbClr val="172033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891540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demo-app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8915400" y="356220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/metrics custom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2819520" y="3200400"/>
            <a:ext cx="38052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5486400" y="2400480"/>
            <a:ext cx="38052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5486400" y="3924360"/>
            <a:ext cx="38052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8191440" y="3200400"/>
            <a:ext cx="38052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914400" y="5581800"/>
            <a:ext cx="10362960" cy="418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Tout est déployé en YAML : aucun chart Helm, aucune CRD Operator, aucun ServiceMonitor.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MANIFESTS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Chaque fichier YAML porte une responsabilité identifiable.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Cette granularité rend le rendu étudiant lisible et testable sur un cluster vierge.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704880" y="238140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876240" y="255276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00-namespaces.yaml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876240" y="283860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Sépare monitoring et demo.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6039000" y="238140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210360" y="255276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01-prometheus-rbac.yaml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210360" y="283860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Autorise la découverte Kubernetes.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704880" y="312408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876240" y="329580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02-prometheus-config.yaml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876240" y="358128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Scrape configs + règles d'alerte.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039000" y="312408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6210360" y="329580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04-alertmanager.yaml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210360" y="358128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Réception et regroupement d'alertes.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04880" y="386712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876240" y="403848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05-node-exporter.yaml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876240" y="432432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DaemonSet : un exporter par noeud.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6039000" y="386712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6210360" y="403848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06-kube-state-metrics.yaml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6210360" y="432432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État Kubernetes transformé en métriques.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04880" y="461016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876240" y="478152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08-grafana-deployment-service.yaml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876240" y="506736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UI + datasource Prometheus.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039000" y="4610160"/>
            <a:ext cx="4762080" cy="64728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6210360" y="4781520"/>
            <a:ext cx="441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09-demo-app.yaml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6210360" y="5067360"/>
            <a:ext cx="44193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Application instrumentée via /metrics.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PROMQL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B7F7C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PromQL transforme les compteurs bruts en signaux lisibles.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7DEE6"/>
                </a:solidFill>
                <a:effectLst/>
                <a:uFillTx/>
                <a:latin typeface="Aptos"/>
                <a:ea typeface="Aptos"/>
              </a:rPr>
              <a:t>Les requêtes du TP restent simples, mais elles couvrent le diagnostic de base.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723960" y="2495520"/>
            <a:ext cx="2323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Targets disponibles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3143160" y="2381400"/>
            <a:ext cx="7905240" cy="51408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3314880" y="2533680"/>
            <a:ext cx="7562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up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723960" y="3200400"/>
            <a:ext cx="2323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Trafic HTTP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143160" y="3086280"/>
            <a:ext cx="7905240" cy="51408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3314880" y="3238560"/>
            <a:ext cx="7562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sum(rate(http_requests_total[1m]))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723960" y="3905280"/>
            <a:ext cx="2323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Codes HTTP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143160" y="3790800"/>
            <a:ext cx="7905240" cy="51408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3314880" y="3943440"/>
            <a:ext cx="7562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sum by (code) (rate(http_requests_total[1m]))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723960" y="4610160"/>
            <a:ext cx="2323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Latence p95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3143160" y="4495680"/>
            <a:ext cx="7905240" cy="51408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314880" y="4648320"/>
            <a:ext cx="7562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histogram_quantile(0.95, sum(rate(http_request_duration_seconds_bucket[5m])) by (le))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723960" y="5315040"/>
            <a:ext cx="23238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CPU noeud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143160" y="5200560"/>
            <a:ext cx="7905240" cy="51408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3314880" y="5353200"/>
            <a:ext cx="756252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100 * (1 - avg by (instance) (rate(node_cpu_seconds_total{mode="idle"}[5m])))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GRAFANA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Grafana visualise une question, pas juste une requête.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Une datasource Prometheus est provisionnée par ConfigMap ; le dashboard reste éditable/exportable.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666720" y="2362320"/>
            <a:ext cx="4762080" cy="1199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838080" y="249552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Trafic applicatif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876240" y="287640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req/s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2590920" y="292428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2590920" y="2924280"/>
            <a:ext cx="2811600" cy="950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876240" y="316224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tendance 5m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590920" y="320976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2590920" y="3209760"/>
            <a:ext cx="1874160" cy="9504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000840" y="2362320"/>
            <a:ext cx="4762080" cy="1199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6172200" y="249552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Erreurs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6210360" y="287640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4xx/5xx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7924680" y="292428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7924680" y="2924280"/>
            <a:ext cx="702720" cy="9504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6210360" y="316224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budget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7924680" y="320976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7924680" y="3209760"/>
            <a:ext cx="3201840" cy="9504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666720" y="3753000"/>
            <a:ext cx="4762080" cy="1199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838080" y="388620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Latence p95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876240" y="426708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p95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2590920" y="431496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2590920" y="4314960"/>
            <a:ext cx="1717920" cy="9504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876240" y="455292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p50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2590920" y="460044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2590920" y="4600440"/>
            <a:ext cx="858960" cy="9504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6000840" y="3753000"/>
            <a:ext cx="4762080" cy="1199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172200" y="3886200"/>
            <a:ext cx="2476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Cluster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210360" y="426708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pods running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924680" y="431496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924680" y="4314960"/>
            <a:ext cx="35924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210360" y="4552920"/>
            <a:ext cx="161892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CPU noeud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7924680" y="4600440"/>
            <a:ext cx="3904920" cy="9504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924680" y="4600440"/>
            <a:ext cx="1444680" cy="9504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DASHBOARD MINIMAL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Le dashboard demandé suit le diagnostic développeur.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Il doit montrer le comportement de l'application, puis le contexte Kubernetes.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Trafic HTTP : requêtes par seconde.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Codes HTTP : succès et erreurs.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Taux d'erreur : proportion exploitable.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Latence p95 : perception utilisateur.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685800" y="46767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895320" y="46101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Pods et CPU : contexte de déploiement.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6667560" y="2381400"/>
            <a:ext cx="3809520" cy="1371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6838920" y="2514600"/>
            <a:ext cx="3466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QUALITÉ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6838920" y="2743200"/>
            <a:ext cx="3466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Un bon panel a une unité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838920" y="3219480"/>
            <a:ext cx="346680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Seconds, percent, req/s, bytes : l'unité évite les contresens.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667560" y="4057560"/>
            <a:ext cx="3809520" cy="1371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6838920" y="4191120"/>
            <a:ext cx="34668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LISIBILITÉ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6838920" y="4419720"/>
            <a:ext cx="34668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Moins de séries, plus de signal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6838920" y="4896000"/>
            <a:ext cx="346680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Direct labels et panels ciblés valent mieux qu'un dashboard encyclopédique.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19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ALERTING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Alertmanager commence là où Prometheus décide qu'il y a un problème.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Pour le TP, l'objectif est de voir une alerte arriver, pas de configurer une astreinte réelle.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819000" y="2857680"/>
            <a:ext cx="1999800" cy="123804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99072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Métrique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990720" y="363852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up == 0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2895480" y="3295800"/>
            <a:ext cx="39960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257640" y="2857680"/>
            <a:ext cx="1999800" cy="123804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342900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Règle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3429000" y="363852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for: 1m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5334120" y="3295800"/>
            <a:ext cx="39960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5695920" y="2857680"/>
            <a:ext cx="1999800" cy="123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586728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Alerte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5867280" y="363852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TargetDown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7772400" y="3295800"/>
            <a:ext cx="399600" cy="3805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134200" y="2857680"/>
            <a:ext cx="1999800" cy="1238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305920" y="3029040"/>
            <a:ext cx="165708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Alertmanager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8305920" y="3638520"/>
            <a:ext cx="1657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groupe et route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1467000" y="4762440"/>
            <a:ext cx="9258120" cy="7426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1638360" y="4915080"/>
            <a:ext cx="8915040" cy="475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expr: up == 0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for: 1m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labels: { severity: warning }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VALIDATION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La validation se fait sur un cluster vierge.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 rendu doit prouver qu'il est reproductible et non dépendant d'une configuration manuelle dans l'UI.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781200" y="241920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952560" y="257184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kubectl apply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952560" y="287640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Les manifests s'appliquent sans Helm.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4305240" y="241920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4476600" y="257184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Targets Prometheus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4476600" y="287640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Prometheus, exporters et app sont up.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7829640" y="241920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8001000" y="257184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Aptos"/>
                <a:ea typeface="Aptos"/>
              </a:rPr>
              <a:t>Datasource Grafana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8001000" y="287640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Prometheus est provisionné.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781200" y="363852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52560" y="379080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Dashboard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952560" y="409572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Panels lisibles après trafic.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4305240" y="363852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4476600" y="379080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DC2626"/>
                </a:solidFill>
                <a:effectLst/>
                <a:uFillTx/>
                <a:latin typeface="Aptos"/>
                <a:ea typeface="Aptos"/>
              </a:rPr>
              <a:t>Alertmanager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4476600" y="409572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Une alerte est visible.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7829640" y="3638520"/>
            <a:ext cx="3028680" cy="87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8001000" y="3790800"/>
            <a:ext cx="268560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README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8001000" y="4095720"/>
            <a:ext cx="268560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Commandes et choix expliqués.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21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DÉPANNAGE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Les erreurs de monitoring se trouvent presque toujours dans trois zones.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On diagnostique la chaîne de collecte comme une application distribuée.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85800" y="2543040"/>
            <a:ext cx="75960" cy="7596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895320" y="24764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Discovery : annotations absentes ou port incorrect.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685800" y="3076560"/>
            <a:ext cx="75960" cy="7596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895320" y="300996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Réseau : Service ou endpoint non joignable.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85800" y="3610080"/>
            <a:ext cx="75960" cy="7596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895320" y="354348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Permissions : RBAC insuffisant pour lire l'API Kubernetes.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685800" y="4143240"/>
            <a:ext cx="75960" cy="7596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895320" y="4076640"/>
            <a:ext cx="46479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Grafana : datasource mal pointée ou ConfigMap non rechargée.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6667560" y="2590920"/>
            <a:ext cx="3904920" cy="83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6838920" y="2724120"/>
            <a:ext cx="35618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6A34A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6838920" y="2952720"/>
            <a:ext cx="35618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Status &gt; Target health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6667560" y="3714840"/>
            <a:ext cx="3904920" cy="83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6838920" y="3848040"/>
            <a:ext cx="35618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KUBERNETES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6838920" y="4076640"/>
            <a:ext cx="35618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kubectl logs / describe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6667560" y="4838760"/>
            <a:ext cx="3904920" cy="83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6838920" y="4971960"/>
            <a:ext cx="356184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D97706"/>
                </a:solidFill>
                <a:effectLst/>
                <a:uFillTx/>
                <a:latin typeface="Aptos"/>
                <a:ea typeface="Aptos"/>
              </a:rPr>
              <a:t>GRAFANA</a:t>
            </a:r>
            <a:endParaRPr lang="fr-FR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838920" y="5200560"/>
            <a:ext cx="356184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Data sources &gt; Prometheus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22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RENDU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B7F7C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Le rendu évalue la compréhension, pas l'installation.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7DEE6"/>
                </a:solidFill>
                <a:effectLst/>
                <a:uFillTx/>
                <a:latin typeface="Aptos"/>
                <a:ea typeface="Aptos"/>
              </a:rPr>
              <a:t>Les sources doivent permettre une correction automatique ou semi-automatique.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781200" y="2476440"/>
            <a:ext cx="4514400" cy="2381040"/>
          </a:xfrm>
          <a:prstGeom prst="rect">
            <a:avLst/>
          </a:prstGeom>
          <a:solidFill>
            <a:srgbClr val="0B1020"/>
          </a:solidFill>
          <a:ln w="9525">
            <a:solidFill>
              <a:srgbClr val="3441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952560" y="2629080"/>
            <a:ext cx="4171680" cy="2114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nom-prenom-prometheus-grafana/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README.md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manifests/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00-namespace.yaml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...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grafana/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E5E7EB"/>
                </a:solidFill>
                <a:effectLst/>
                <a:uFillTx/>
                <a:latin typeface="Aptos Mono"/>
                <a:ea typeface="Aptos Mono"/>
              </a:rPr>
              <a:t>    dashboard.json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6191280" y="26384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6400800" y="2571840"/>
            <a:ext cx="45525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Manifests lisibles, non générés par Helm.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6191280" y="315288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6400800" y="3086280"/>
            <a:ext cx="45525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Images versionnées et labels cohérents.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6191280" y="366696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6400800" y="3600360"/>
            <a:ext cx="45525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Prometheus découvre les targets automatiquement.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191280" y="418140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400800" y="4114800"/>
            <a:ext cx="45525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Dashboard exporté et expliqué.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6191280" y="4695840"/>
            <a:ext cx="75960" cy="7596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6400800" y="4629240"/>
            <a:ext cx="455256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5E7EB"/>
                </a:solidFill>
                <a:effectLst/>
                <a:uFillTx/>
                <a:latin typeface="Aptos"/>
                <a:ea typeface="Aptos"/>
              </a:rPr>
              <a:t>Alerte test documentée.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23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VERS ELK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Prometheus détecte le signal ; ELK aidera à chercher l'événement exact.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Le cours 2 partira des logs : index, recherche, dashboards Kibana et corrélation avec les métriques.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895320" y="2666880"/>
            <a:ext cx="4476240" cy="20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1066680" y="2838600"/>
            <a:ext cx="413352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Prometheus détecte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1066680" y="3486240"/>
            <a:ext cx="413352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Hausse du taux d'erreur, latence p95, cible down, saturation CPU.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6819840" y="2666880"/>
            <a:ext cx="4476240" cy="209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6991200" y="2838600"/>
            <a:ext cx="413352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ELK explique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6991200" y="3486240"/>
            <a:ext cx="413352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Stack trace, payload, utilisateur, corrélation temporelle, recherche plein texte.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5715000" y="3390840"/>
            <a:ext cx="666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5B6676"/>
                </a:solidFill>
                <a:effectLst/>
                <a:uFillTx/>
                <a:latin typeface="Aptos"/>
                <a:ea typeface="Aptos"/>
              </a:rPr>
              <a:t>→</a:t>
            </a:r>
            <a:endParaRPr lang="fr-FR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1143000" y="5524560"/>
            <a:ext cx="990576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Cours 2 : partir d'un signal métrique et chercher l'événement exact dans les logs.</a:t>
            </a:r>
            <a:endParaRPr lang="fr-FR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24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0" y="0"/>
            <a:ext cx="123480" cy="685764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kicker-label"/>
          <p:cNvSpPr/>
          <p:nvPr/>
        </p:nvSpPr>
        <p:spPr>
          <a:xfrm>
            <a:off x="552600" y="343080"/>
            <a:ext cx="342864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À RETENIR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kicker-marker"/>
          <p:cNvSpPr/>
          <p:nvPr/>
        </p:nvSpPr>
        <p:spPr>
          <a:xfrm>
            <a:off x="361800" y="409680"/>
            <a:ext cx="95040" cy="95040"/>
          </a:xfrm>
          <a:prstGeom prst="rect">
            <a:avLst/>
          </a:prstGeom>
          <a:solidFill>
            <a:srgbClr val="B7F7C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552600" y="685800"/>
            <a:ext cx="8096040" cy="780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L'observabilité se conçoit dans le service.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552600" y="1676520"/>
            <a:ext cx="723852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7DEE6"/>
                </a:solidFill>
                <a:effectLst/>
                <a:uFillTx/>
                <a:latin typeface="Aptos"/>
                <a:ea typeface="Aptos"/>
              </a:rPr>
              <a:t>Le monitoring n'est pas une couche magique ajoutée à la fin.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876240" y="236232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1542960" y="232416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Une métrique doit aider à décider.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114960" y="236232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6781680" y="232416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La cardinalité des labels est un choix de conception.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876240" y="318132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1542960" y="314316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node-exporter mesure les noeuds ; kube-state-metrics décrit Kubernetes.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114960" y="318132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6781680" y="314316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Prometheus collecte et alerte ; Grafana visualise.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876240" y="400068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1542960" y="396252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Helm est utile, mais les manifests montrent ce qu'on comprend.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6114960" y="400068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7F7CB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6781680" y="3962520"/>
            <a:ext cx="4095360" cy="514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Les logs complètent les métriques quand il faut expliquer le pourquoi.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552600" y="6458040"/>
            <a:ext cx="47620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ptos"/>
                <a:ea typeface="Aptos"/>
              </a:rPr>
              <a:t>INFRES 2A - Métrologie applicative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11258640" y="6419880"/>
            <a:ext cx="4568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1D5DB"/>
                </a:solidFill>
                <a:effectLst/>
                <a:uFillTx/>
                <a:latin typeface="Aptos"/>
                <a:ea typeface="Aptos"/>
              </a:rPr>
              <a:t>25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2026-06-13T12:43:11Z</dcterms:created>
  <dc:creator>Walnut Exporter</dc:creator>
  <dc:description/>
  <dc:language>fr-FR</dc:language>
  <cp:lastModifiedBy/>
  <dcterms:modified xsi:type="dcterms:W3CDTF">2026-06-13T15:24:31Z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