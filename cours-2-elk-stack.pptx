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déplacer la diapo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76A35A9-0A47-438F-99EF-3571604A4143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7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7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7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8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l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jpeg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628560" y="552600"/>
            <a:ext cx="4000320" cy="342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ELK stack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609480" y="1200240"/>
            <a:ext cx="5810040" cy="1257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35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Passer du signal à l'événement.</a:t>
            </a:r>
            <a:endParaRPr lang="fr-FR" sz="4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647640" y="2705040"/>
            <a:ext cx="56192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Cours 2 - logs, ingestion, recherche, dashboards Kibana et usages développeur/support.</a:t>
            </a:r>
            <a:endParaRPr lang="fr-FR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6858000" y="1000080"/>
            <a:ext cx="4000320" cy="2057040"/>
          </a:xfrm>
          <a:prstGeom prst="rect">
            <a:avLst/>
          </a:prstGeom>
          <a:solidFill>
            <a:srgbClr val="070B14"/>
          </a:solidFill>
          <a:ln w="12383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7029360" y="1171440"/>
            <a:ext cx="3657240" cy="17902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KQL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@timestamp &gt;= "15:02" and @timestamp &lt;= "15:07"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and status &gt;= 500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and service : "checkout"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1066680" y="4000680"/>
            <a:ext cx="2908080" cy="1066320"/>
          </a:xfrm>
          <a:prstGeom prst="rect">
            <a:avLst/>
          </a:prstGeom>
          <a:solidFill>
            <a:srgbClr val="111827"/>
          </a:solidFill>
          <a:ln w="13335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1219320" y="4172040"/>
            <a:ext cx="260316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C55E"/>
                </a:solidFill>
                <a:effectLst/>
                <a:uFillTx/>
                <a:latin typeface="Aptos"/>
                <a:ea typeface="Aptos"/>
              </a:rPr>
              <a:t>Prometheus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1219320" y="4552920"/>
            <a:ext cx="260316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détecte le signal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4013280" y="4381560"/>
            <a:ext cx="17100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4184640" y="4000680"/>
            <a:ext cx="2908080" cy="1066320"/>
          </a:xfrm>
          <a:prstGeom prst="rect">
            <a:avLst/>
          </a:prstGeom>
          <a:solidFill>
            <a:srgbClr val="111827"/>
          </a:solidFill>
          <a:ln w="13335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4336920" y="4172040"/>
            <a:ext cx="260316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ELK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4336920" y="4552920"/>
            <a:ext cx="260316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explique l'événement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7130880" y="4381560"/>
            <a:ext cx="17100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7302600" y="4000680"/>
            <a:ext cx="2908080" cy="1066320"/>
          </a:xfrm>
          <a:prstGeom prst="rect">
            <a:avLst/>
          </a:prstGeom>
          <a:solidFill>
            <a:srgbClr val="111827"/>
          </a:solidFill>
          <a:ln w="1333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7454880" y="4172040"/>
            <a:ext cx="260316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A78BFA"/>
                </a:solidFill>
                <a:effectLst/>
                <a:uFillTx/>
                <a:latin typeface="Aptos"/>
                <a:ea typeface="Aptos"/>
              </a:rPr>
              <a:t>Kibana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7454880" y="4552920"/>
            <a:ext cx="260316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partage la lecture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" name=""/>
          <p:cNvPicPr/>
          <p:nvPr/>
        </p:nvPicPr>
        <p:blipFill>
          <a:blip r:embed="rId1"/>
          <a:stretch/>
        </p:blipFill>
        <p:spPr>
          <a:xfrm>
            <a:off x="2484000" y="180000"/>
            <a:ext cx="2736000" cy="96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"/>
          <p:cNvPicPr/>
          <p:nvPr/>
        </p:nvPicPr>
        <p:blipFill>
          <a:blip r:embed="rId2"/>
          <a:stretch/>
        </p:blipFill>
        <p:spPr>
          <a:xfrm>
            <a:off x="5411520" y="101880"/>
            <a:ext cx="1248480" cy="1158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kicker-2-marker"/>
          <p:cNvSpPr/>
          <p:nvPr/>
        </p:nvSpPr>
        <p:spPr>
          <a:xfrm>
            <a:off x="609480" y="457200"/>
            <a:ext cx="114120" cy="11412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kicker-2-label"/>
          <p:cNvSpPr/>
          <p:nvPr/>
        </p:nvSpPr>
        <p:spPr>
          <a:xfrm>
            <a:off x="857160" y="361800"/>
            <a:ext cx="4952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ACCROCHE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1049120" y="36180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609480" y="876240"/>
            <a:ext cx="990576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Qui utilise ELK ?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4629240" y="5776200"/>
            <a:ext cx="59814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" name=""/>
          <p:cNvPicPr/>
          <p:nvPr/>
        </p:nvPicPr>
        <p:blipFill>
          <a:blip r:embed="rId1"/>
          <a:stretch/>
        </p:blipFill>
        <p:spPr>
          <a:xfrm>
            <a:off x="720000" y="1620000"/>
            <a:ext cx="2450520" cy="253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"/>
          <p:cNvPicPr/>
          <p:nvPr/>
        </p:nvPicPr>
        <p:blipFill>
          <a:blip r:embed="rId2"/>
          <a:stretch/>
        </p:blipFill>
        <p:spPr>
          <a:xfrm>
            <a:off x="3420000" y="1440000"/>
            <a:ext cx="2340000" cy="234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"/>
          <p:cNvPicPr/>
          <p:nvPr/>
        </p:nvPicPr>
        <p:blipFill>
          <a:blip r:embed="rId3"/>
          <a:stretch/>
        </p:blipFill>
        <p:spPr>
          <a:xfrm>
            <a:off x="5532480" y="-207000"/>
            <a:ext cx="5807520" cy="3267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"/>
          <p:cNvPicPr/>
          <p:nvPr/>
        </p:nvPicPr>
        <p:blipFill>
          <a:blip r:embed="rId4"/>
          <a:stretch/>
        </p:blipFill>
        <p:spPr>
          <a:xfrm>
            <a:off x="5461200" y="3268440"/>
            <a:ext cx="4798800" cy="208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"/>
          <p:cNvPicPr/>
          <p:nvPr/>
        </p:nvPicPr>
        <p:blipFill>
          <a:blip r:embed="rId5"/>
          <a:stretch/>
        </p:blipFill>
        <p:spPr>
          <a:xfrm>
            <a:off x="1141200" y="4236480"/>
            <a:ext cx="3178800" cy="1788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kicker-2-marker 1"/>
          <p:cNvSpPr/>
          <p:nvPr/>
        </p:nvSpPr>
        <p:spPr>
          <a:xfrm>
            <a:off x="609480" y="457200"/>
            <a:ext cx="114120" cy="11412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kicker-2-label 1"/>
          <p:cNvSpPr/>
          <p:nvPr/>
        </p:nvSpPr>
        <p:spPr>
          <a:xfrm>
            <a:off x="857160" y="361800"/>
            <a:ext cx="4952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ACCROCHE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11049120" y="36180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609480" y="876240"/>
            <a:ext cx="990576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La demande support commence souvent par une plage horaire.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628560" y="1790640"/>
            <a:ext cx="933408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Objectif du cours : savoir transformer une question floue en recherche exploitable.</a:t>
            </a:r>
            <a:endParaRPr lang="fr-F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781200" y="2629080"/>
            <a:ext cx="3009600" cy="3310920"/>
          </a:xfrm>
          <a:prstGeom prst="rect">
            <a:avLst/>
          </a:prstGeom>
          <a:solidFill>
            <a:srgbClr val="0E1628"/>
          </a:solidFill>
          <a:ln w="12383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1038960" y="2700000"/>
            <a:ext cx="2381040" cy="9140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"Retrouve-moi les logs entre 15h02 et 15h07."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4400640" y="2647800"/>
            <a:ext cx="6190920" cy="1116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4400640" y="4800600"/>
            <a:ext cx="6190920" cy="1116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4400640" y="2647800"/>
            <a:ext cx="11160" cy="21524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10591920" y="2647800"/>
            <a:ext cx="11160" cy="21524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7124760" y="2647800"/>
            <a:ext cx="9000" cy="215244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8734320" y="2647800"/>
            <a:ext cx="9000" cy="215244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514760" y="2714760"/>
            <a:ext cx="2476080" cy="442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Heure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7248600" y="2714760"/>
            <a:ext cx="1361880" cy="442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Service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8858160" y="2714760"/>
            <a:ext cx="1547280" cy="442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Message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4400640" y="3186000"/>
            <a:ext cx="619092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4514760" y="3252960"/>
            <a:ext cx="2476080" cy="442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15:03:12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7248600" y="3252960"/>
            <a:ext cx="1361880" cy="442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checkout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8858160" y="3252960"/>
            <a:ext cx="1547280" cy="442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payment refused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4400640" y="3724200"/>
            <a:ext cx="619092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4514760" y="3790800"/>
            <a:ext cx="2476080" cy="442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F4444"/>
                </a:solidFill>
                <a:effectLst/>
                <a:uFillTx/>
                <a:latin typeface="Aptos"/>
                <a:ea typeface="Aptos"/>
              </a:rPr>
              <a:t>15:04:02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7248600" y="3790800"/>
            <a:ext cx="1361880" cy="442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api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8858160" y="3790800"/>
            <a:ext cx="1547280" cy="442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status 504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400640" y="4262400"/>
            <a:ext cx="619092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4514760" y="4329000"/>
            <a:ext cx="2476080" cy="442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C55E"/>
                </a:solidFill>
                <a:effectLst/>
                <a:uFillTx/>
                <a:latin typeface="Aptos"/>
                <a:ea typeface="Aptos"/>
              </a:rPr>
              <a:t>15:06:41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7248600" y="4329000"/>
            <a:ext cx="1361880" cy="442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orders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8858160" y="4329000"/>
            <a:ext cx="1547280" cy="442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retry ok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4419720" y="5092560"/>
            <a:ext cx="66240" cy="6624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4629240" y="5016600"/>
            <a:ext cx="59814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Question temporelle : l'index doit porter un timestamp fiable.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4419720" y="5382720"/>
            <a:ext cx="66240" cy="66240"/>
          </a:xfrm>
          <a:prstGeom prst="rect">
            <a:avLst/>
          </a:prstGeom>
          <a:solidFill>
            <a:srgbClr val="A78BF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4629240" y="5306400"/>
            <a:ext cx="59814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Question métier : route, fonctionnalité et identifiant anonymisé aident le support.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4419720" y="585252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4629240" y="5776200"/>
            <a:ext cx="59814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Question technique : status, niveau, service et request_id aident les développeurs.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" name=""/>
          <p:cNvPicPr/>
          <p:nvPr/>
        </p:nvPicPr>
        <p:blipFill>
          <a:blip r:embed="rId1"/>
          <a:stretch/>
        </p:blipFill>
        <p:spPr>
          <a:xfrm>
            <a:off x="957240" y="4110840"/>
            <a:ext cx="2642760" cy="1469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kicker-3-marker"/>
          <p:cNvSpPr/>
          <p:nvPr/>
        </p:nvSpPr>
        <p:spPr>
          <a:xfrm>
            <a:off x="609480" y="457200"/>
            <a:ext cx="114120" cy="114120"/>
          </a:xfrm>
          <a:prstGeom prst="rect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kicker-3-label"/>
          <p:cNvSpPr/>
          <p:nvPr/>
        </p:nvSpPr>
        <p:spPr>
          <a:xfrm>
            <a:off x="857160" y="361800"/>
            <a:ext cx="4952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2C55E"/>
                </a:solidFill>
                <a:effectLst/>
                <a:uFillTx/>
                <a:latin typeface="Aptos"/>
                <a:ea typeface="Aptos"/>
              </a:rPr>
              <a:t>TRANSITION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11049120" y="36180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609480" y="876240"/>
            <a:ext cx="990576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Prometheus trouve le symptôme ; ELK reconstruit l'histoire.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628560" y="1809720"/>
            <a:ext cx="933408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Les deux outils ne se remplacent pas : ils répondent à deux moments différents de l'investigation.</a:t>
            </a:r>
            <a:endParaRPr lang="fr-F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819000" y="2590920"/>
            <a:ext cx="4333680" cy="2285640"/>
          </a:xfrm>
          <a:prstGeom prst="rect">
            <a:avLst/>
          </a:prstGeom>
          <a:solidFill>
            <a:srgbClr val="0E1B17"/>
          </a:solidFill>
          <a:ln w="12383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1123920" y="2914560"/>
            <a:ext cx="304776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22C55E"/>
                </a:solidFill>
                <a:effectLst/>
                <a:uFillTx/>
                <a:latin typeface="Aptos"/>
                <a:ea typeface="Aptos"/>
              </a:rPr>
              <a:t>Signal métrique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1143000" y="352440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1352520" y="3448080"/>
            <a:ext cx="321912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Combien d'erreurs ?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1143000" y="384804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1352520" y="3772080"/>
            <a:ext cx="321912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Depuis quand ?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1143000" y="417204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1352520" y="4095720"/>
            <a:ext cx="321912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Quelle tendance ?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1143000" y="449568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1352520" y="4419720"/>
            <a:ext cx="321912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Quel seuil d'alerte ?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6324480" y="2590920"/>
            <a:ext cx="4333680" cy="2285640"/>
          </a:xfrm>
          <a:prstGeom prst="rect">
            <a:avLst/>
          </a:prstGeom>
          <a:solidFill>
            <a:srgbClr val="0E1628"/>
          </a:solidFill>
          <a:ln w="12383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6629400" y="2914560"/>
            <a:ext cx="32382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Événement journalisé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6648480" y="352440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6858000" y="3448080"/>
            <a:ext cx="331452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Quelle requête ?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6648480" y="384804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6858000" y="3772080"/>
            <a:ext cx="331452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Quelle route ?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6648480" y="417204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6858000" y="4095720"/>
            <a:ext cx="331452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Quel message d'erreur ?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648480" y="449568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6858000" y="4419720"/>
            <a:ext cx="331452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Quel utilisateur ou client anonymisé ?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5315040" y="3314880"/>
            <a:ext cx="104724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alerte 5xx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5638680" y="3676680"/>
            <a:ext cx="418680" cy="495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5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3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60A5F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kicker-4-marker"/>
          <p:cNvSpPr/>
          <p:nvPr/>
        </p:nvSpPr>
        <p:spPr>
          <a:xfrm>
            <a:off x="609480" y="457200"/>
            <a:ext cx="114120" cy="114120"/>
          </a:xfrm>
          <a:prstGeom prst="rect">
            <a:avLst/>
          </a:prstGeom>
          <a:solidFill>
            <a:srgbClr val="60A5F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kicker-4-label"/>
          <p:cNvSpPr/>
          <p:nvPr/>
        </p:nvSpPr>
        <p:spPr>
          <a:xfrm>
            <a:off x="857160" y="361800"/>
            <a:ext cx="4952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0A5FA"/>
                </a:solidFill>
                <a:effectLst/>
                <a:uFillTx/>
                <a:latin typeface="Aptos"/>
                <a:ea typeface="Aptos"/>
              </a:rPr>
              <a:t>OBSERVABILITÉ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11049120" y="36180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609480" y="876240"/>
            <a:ext cx="990576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Métriques, logs et traces ne racontent pas la même chose.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628560" y="1809720"/>
            <a:ext cx="933408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Un bon diagnostic combine les trois au lieu de tout forcer dans un seul format.</a:t>
            </a:r>
            <a:endParaRPr lang="fr-F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781200" y="2629080"/>
            <a:ext cx="2952360" cy="2361960"/>
          </a:xfrm>
          <a:prstGeom prst="rect">
            <a:avLst/>
          </a:prstGeom>
          <a:solidFill>
            <a:srgbClr val="111827"/>
          </a:solidFill>
          <a:ln w="12383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990720" y="2914560"/>
            <a:ext cx="20952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1" u="none" strike="noStrike">
                <a:solidFill>
                  <a:srgbClr val="22C55E"/>
                </a:solidFill>
                <a:effectLst/>
                <a:uFillTx/>
                <a:latin typeface="Aptos"/>
                <a:ea typeface="Aptos"/>
              </a:rPr>
              <a:t>Métriques</a:t>
            </a:r>
            <a:endParaRPr lang="fr-FR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990720" y="3429000"/>
            <a:ext cx="20952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2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Combien ?</a:t>
            </a:r>
            <a:endParaRPr lang="fr-FR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990720" y="4000680"/>
            <a:ext cx="2381040" cy="685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Séries temporelles agrégées, alerting, tendances, SLO.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4172040" y="2629080"/>
            <a:ext cx="2952360" cy="2361960"/>
          </a:xfrm>
          <a:prstGeom prst="rect">
            <a:avLst/>
          </a:prstGeom>
          <a:solidFill>
            <a:srgbClr val="111827"/>
          </a:solidFill>
          <a:ln w="12383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4381560" y="2914560"/>
            <a:ext cx="20952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Logs</a:t>
            </a:r>
            <a:endParaRPr lang="fr-FR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4201560" y="3429000"/>
            <a:ext cx="317844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Quoi exactement ?</a:t>
            </a:r>
            <a:endParaRPr lang="fr-F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4381560" y="4000680"/>
            <a:ext cx="2381040" cy="685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Événements détaillés, messages, contexte, recherche temporelle.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7562880" y="2629080"/>
            <a:ext cx="2952360" cy="2361960"/>
          </a:xfrm>
          <a:prstGeom prst="rect">
            <a:avLst/>
          </a:prstGeom>
          <a:solidFill>
            <a:srgbClr val="111827"/>
          </a:solidFill>
          <a:ln w="12383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7772400" y="2914560"/>
            <a:ext cx="20952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20" b="1" u="none" strike="noStrike">
                <a:solidFill>
                  <a:srgbClr val="A78BFA"/>
                </a:solidFill>
                <a:effectLst/>
                <a:uFillTx/>
                <a:latin typeface="Aptos"/>
                <a:ea typeface="Aptos"/>
              </a:rPr>
              <a:t>Traces</a:t>
            </a:r>
            <a:endParaRPr lang="fr-FR" sz="20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7772400" y="3429000"/>
            <a:ext cx="33876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2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Quel chemin ?</a:t>
            </a:r>
            <a:endParaRPr lang="fr-FR" sz="2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7772400" y="4000680"/>
            <a:ext cx="2381040" cy="685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Parcours d'une requête entre services, latence par étape.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kicker-5-marker"/>
          <p:cNvSpPr/>
          <p:nvPr/>
        </p:nvSpPr>
        <p:spPr>
          <a:xfrm>
            <a:off x="609480" y="457200"/>
            <a:ext cx="114120" cy="11412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kicker-5-label"/>
          <p:cNvSpPr/>
          <p:nvPr/>
        </p:nvSpPr>
        <p:spPr>
          <a:xfrm>
            <a:off x="857160" y="361800"/>
            <a:ext cx="4952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QUALITÉ DES LOGS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11049120" y="36180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05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609480" y="876240"/>
            <a:ext cx="990576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Le JSON structuré devient le contrat entre le code et Kibana.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628560" y="1809720"/>
            <a:ext cx="933408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La recherche commence au moment où le développeur choisit ce qu'il écrit sur stdout.</a:t>
            </a:r>
            <a:endParaRPr lang="fr-F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819000" y="2685960"/>
            <a:ext cx="4381200" cy="1218960"/>
          </a:xfrm>
          <a:prstGeom prst="rect">
            <a:avLst/>
          </a:prstGeom>
          <a:solidFill>
            <a:srgbClr val="070B14"/>
          </a:solidFill>
          <a:ln w="12383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990720" y="2857680"/>
            <a:ext cx="4038120" cy="952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Erreur brute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Payment failed for user 4812 on /checkout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5962680" y="2362320"/>
            <a:ext cx="4762080" cy="2342880"/>
          </a:xfrm>
          <a:prstGeom prst="rect">
            <a:avLst/>
          </a:prstGeom>
          <a:solidFill>
            <a:srgbClr val="070B14"/>
          </a:solidFill>
          <a:ln w="12383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6134040" y="2533680"/>
            <a:ext cx="4419360" cy="2076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Log structuré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{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"level":"error",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"service":"checkout",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"route":"/checkout",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"status":504,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"request_id":"req-7fe1",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"feature":"payment"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}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876240" y="4476600"/>
            <a:ext cx="66240" cy="66240"/>
          </a:xfrm>
          <a:prstGeom prst="rect">
            <a:avLst/>
          </a:prstGeom>
          <a:solidFill>
            <a:srgbClr val="EF444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1085760" y="4400640"/>
            <a:ext cx="4552560" cy="342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Le brut se lit vite, mais se filtre mal.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876240" y="4857840"/>
            <a:ext cx="66240" cy="66240"/>
          </a:xfrm>
          <a:prstGeom prst="rect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1085760" y="4781520"/>
            <a:ext cx="4552560" cy="342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Le structuré permet les agrégations, les filtres et les dashboards.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kicker-6-marker"/>
          <p:cNvSpPr/>
          <p:nvPr/>
        </p:nvSpPr>
        <p:spPr>
          <a:xfrm>
            <a:off x="609480" y="457200"/>
            <a:ext cx="114120" cy="11412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kicker-6-label"/>
          <p:cNvSpPr/>
          <p:nvPr/>
        </p:nvSpPr>
        <p:spPr>
          <a:xfrm>
            <a:off x="857160" y="361800"/>
            <a:ext cx="4952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CHAMPS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11049120" y="36180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06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609480" y="876240"/>
            <a:ext cx="990576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Un log utile contient du contexte, pas des secrets.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628560" y="1809720"/>
            <a:ext cx="933408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L'enjeu développeur : rendre une erreur recherchable sans créer de risque sécurité ou RGPD.</a:t>
            </a:r>
            <a:endParaRPr lang="fr-F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800280" y="2647800"/>
            <a:ext cx="4857480" cy="2381040"/>
          </a:xfrm>
          <a:prstGeom prst="rect">
            <a:avLst/>
          </a:prstGeom>
          <a:solidFill>
            <a:srgbClr val="0E1628"/>
          </a:solidFill>
          <a:ln w="12383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1085760" y="2952720"/>
            <a:ext cx="341424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22C55E"/>
                </a:solidFill>
                <a:effectLst/>
                <a:uFillTx/>
                <a:latin typeface="Aptos"/>
                <a:ea typeface="Aptos"/>
              </a:rPr>
              <a:t>Champs à privilégier</a:t>
            </a:r>
            <a:endParaRPr lang="fr-FR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1104840" y="350532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1314360" y="3429000"/>
            <a:ext cx="37904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timestamp, level, service, environment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/>
          <p:nvPr/>
        </p:nvSpPr>
        <p:spPr>
          <a:xfrm>
            <a:off x="1104840" y="377208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1314360" y="3695760"/>
            <a:ext cx="37904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route, status, status_family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1104840" y="403848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1314360" y="3962520"/>
            <a:ext cx="37904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request_id ou trace_id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1104840" y="430524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1314360" y="4229280"/>
            <a:ext cx="37904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message clair et durée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1104840" y="457200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1314360" y="4495680"/>
            <a:ext cx="37904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champ métier anonymisé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6477120" y="2647800"/>
            <a:ext cx="4000320" cy="2381040"/>
          </a:xfrm>
          <a:prstGeom prst="rect">
            <a:avLst/>
          </a:prstGeom>
          <a:solidFill>
            <a:srgbClr val="1B1114"/>
          </a:solidFill>
          <a:ln w="12383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6762600" y="2952720"/>
            <a:ext cx="171432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50" b="1" u="none" strike="noStrike">
                <a:solidFill>
                  <a:srgbClr val="EF4444"/>
                </a:solidFill>
                <a:effectLst/>
                <a:uFillTx/>
                <a:latin typeface="Aptos"/>
                <a:ea typeface="Aptos"/>
              </a:rPr>
              <a:t>À éviter</a:t>
            </a:r>
            <a:endParaRPr lang="fr-FR" sz="1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6781680" y="350532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6991200" y="3429000"/>
            <a:ext cx="29332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tokens, mots de passe, cartes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6781680" y="382896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/>
          <p:nvPr/>
        </p:nvSpPr>
        <p:spPr>
          <a:xfrm>
            <a:off x="6991200" y="3753000"/>
            <a:ext cx="29332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PII non anonymisées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6781680" y="415296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6991200" y="4076640"/>
            <a:ext cx="29332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messages trop génériques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6781680" y="447660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6991200" y="4400640"/>
            <a:ext cx="29332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logs debug permanents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"/>
          <p:cNvSpPr/>
          <p:nvPr/>
        </p:nvSpPr>
        <p:spPr>
          <a:xfrm>
            <a:off x="95040" y="36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kicker-7-marker"/>
          <p:cNvSpPr/>
          <p:nvPr/>
        </p:nvSpPr>
        <p:spPr>
          <a:xfrm>
            <a:off x="609480" y="457200"/>
            <a:ext cx="114120" cy="11412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kicker-7-label"/>
          <p:cNvSpPr/>
          <p:nvPr/>
        </p:nvSpPr>
        <p:spPr>
          <a:xfrm>
            <a:off x="857160" y="361800"/>
            <a:ext cx="4952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ARCHITECTURE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11049120" y="36180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07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609480" y="876240"/>
            <a:ext cx="990576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Dans Kubernetes, ELK part des logs stdout enrichis par le cluster.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5" name=""/>
          <p:cNvPicPr/>
          <p:nvPr/>
        </p:nvPicPr>
        <p:blipFill>
          <a:blip r:embed="rId1"/>
          <a:stretch/>
        </p:blipFill>
        <p:spPr>
          <a:xfrm>
            <a:off x="936000" y="2075040"/>
            <a:ext cx="2124000" cy="350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"/>
          <p:cNvPicPr/>
          <p:nvPr/>
        </p:nvPicPr>
        <p:blipFill>
          <a:blip r:embed="rId2"/>
          <a:stretch/>
        </p:blipFill>
        <p:spPr>
          <a:xfrm>
            <a:off x="3600000" y="2036880"/>
            <a:ext cx="2143800" cy="354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"/>
          <p:cNvPicPr/>
          <p:nvPr/>
        </p:nvPicPr>
        <p:blipFill>
          <a:blip r:embed="rId3"/>
          <a:stretch/>
        </p:blipFill>
        <p:spPr>
          <a:xfrm>
            <a:off x="6282000" y="1620000"/>
            <a:ext cx="1638000" cy="339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"/>
          <p:cNvPicPr/>
          <p:nvPr/>
        </p:nvPicPr>
        <p:blipFill>
          <a:blip r:embed="rId4"/>
          <a:stretch/>
        </p:blipFill>
        <p:spPr>
          <a:xfrm>
            <a:off x="8280000" y="2496240"/>
            <a:ext cx="3521520" cy="1823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kicker-7-marker 1"/>
          <p:cNvSpPr/>
          <p:nvPr/>
        </p:nvSpPr>
        <p:spPr>
          <a:xfrm>
            <a:off x="609480" y="457200"/>
            <a:ext cx="114120" cy="11412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kicker-7-label 1"/>
          <p:cNvSpPr/>
          <p:nvPr/>
        </p:nvSpPr>
        <p:spPr>
          <a:xfrm>
            <a:off x="857160" y="361800"/>
            <a:ext cx="4952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ARCHITECTURE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11049120" y="36180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07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609480" y="876240"/>
            <a:ext cx="990576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Dans Kubernetes, ELK part des logs stdout enrichis par le cluster.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628560" y="1809720"/>
            <a:ext cx="933408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Le TP rend chaque étape visible avec des manifests simples.</a:t>
            </a:r>
            <a:endParaRPr lang="fr-F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628560" y="2781360"/>
            <a:ext cx="1587240" cy="1447560"/>
          </a:xfrm>
          <a:prstGeom prst="rect">
            <a:avLst/>
          </a:prstGeom>
          <a:solidFill>
            <a:srgbClr val="111827"/>
          </a:solidFill>
          <a:ln w="13335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781200" y="2952720"/>
            <a:ext cx="128232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C55E"/>
                </a:solidFill>
                <a:effectLst/>
                <a:uFillTx/>
                <a:latin typeface="Aptos"/>
                <a:ea typeface="Aptos"/>
              </a:rPr>
              <a:t>App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781200" y="3333600"/>
            <a:ext cx="1282320" cy="628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logs JSON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stdout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2254320" y="3352680"/>
            <a:ext cx="17100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2425680" y="2781360"/>
            <a:ext cx="1587240" cy="1447560"/>
          </a:xfrm>
          <a:prstGeom prst="rect">
            <a:avLst/>
          </a:prstGeom>
          <a:solidFill>
            <a:srgbClr val="111827"/>
          </a:solidFill>
          <a:ln w="13335">
            <a:solidFill>
              <a:srgbClr val="60A5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2577960" y="2952720"/>
            <a:ext cx="128232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60A5FA"/>
                </a:solidFill>
                <a:effectLst/>
                <a:uFillTx/>
                <a:latin typeface="Aptos"/>
                <a:ea typeface="Aptos"/>
              </a:rPr>
              <a:t>Containers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2577960" y="3333600"/>
            <a:ext cx="1282320" cy="628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/var/log/containers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métadonnées pod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4051440" y="3352680"/>
            <a:ext cx="17100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4222800" y="2781360"/>
            <a:ext cx="1587240" cy="1447560"/>
          </a:xfrm>
          <a:prstGeom prst="rect">
            <a:avLst/>
          </a:prstGeom>
          <a:solidFill>
            <a:srgbClr val="111827"/>
          </a:solidFill>
          <a:ln w="13335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4375080" y="2952720"/>
            <a:ext cx="128232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Filebeat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4375080" y="3333600"/>
            <a:ext cx="1282320" cy="628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DaemonSet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collecte par noeud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5848200" y="3352680"/>
            <a:ext cx="17100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6019920" y="2781360"/>
            <a:ext cx="1587240" cy="1447560"/>
          </a:xfrm>
          <a:prstGeom prst="rect">
            <a:avLst/>
          </a:prstGeom>
          <a:solidFill>
            <a:srgbClr val="111827"/>
          </a:solidFill>
          <a:ln w="13335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6172200" y="2952720"/>
            <a:ext cx="128232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Logstash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6172200" y="3333600"/>
            <a:ext cx="1282320" cy="628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parse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enrichit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route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7645320" y="3352680"/>
            <a:ext cx="17100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7816680" y="2781360"/>
            <a:ext cx="1587240" cy="1447560"/>
          </a:xfrm>
          <a:prstGeom prst="rect">
            <a:avLst/>
          </a:prstGeom>
          <a:solidFill>
            <a:srgbClr val="111827"/>
          </a:solidFill>
          <a:ln w="13335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7969320" y="2952720"/>
            <a:ext cx="128232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F4444"/>
                </a:solidFill>
                <a:effectLst/>
                <a:uFillTx/>
                <a:latin typeface="Aptos"/>
                <a:ea typeface="Aptos"/>
              </a:rPr>
              <a:t>Elasticsearch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7969320" y="3333600"/>
            <a:ext cx="1282320" cy="628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indexe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cherche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agrège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9442440" y="3352680"/>
            <a:ext cx="17100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/>
          <p:nvPr/>
        </p:nvSpPr>
        <p:spPr>
          <a:xfrm>
            <a:off x="9613800" y="2781360"/>
            <a:ext cx="1587240" cy="1447560"/>
          </a:xfrm>
          <a:prstGeom prst="rect">
            <a:avLst/>
          </a:prstGeom>
          <a:solidFill>
            <a:srgbClr val="111827"/>
          </a:solidFill>
          <a:ln w="1333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9766440" y="2952720"/>
            <a:ext cx="128232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A78BFA"/>
                </a:solidFill>
                <a:effectLst/>
                <a:uFillTx/>
                <a:latin typeface="Aptos"/>
                <a:ea typeface="Aptos"/>
              </a:rPr>
              <a:t>Kibana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9766440" y="3333600"/>
            <a:ext cx="1282320" cy="628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Discover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Lens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dashboards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2095560" y="4667400"/>
            <a:ext cx="7333920" cy="685440"/>
          </a:xfrm>
          <a:prstGeom prst="rect">
            <a:avLst/>
          </a:prstGeom>
          <a:solidFill>
            <a:srgbClr val="0E1628"/>
          </a:solidFill>
          <a:ln w="12383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2381400" y="4876920"/>
            <a:ext cx="676224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Point pédagogique : chaque composant est déployé en YAML pour comprendre les objets Kubernetes réels.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kicker-8-marker"/>
          <p:cNvSpPr/>
          <p:nvPr/>
        </p:nvSpPr>
        <p:spPr>
          <a:xfrm>
            <a:off x="609480" y="457200"/>
            <a:ext cx="114120" cy="11412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kicker-8-label"/>
          <p:cNvSpPr/>
          <p:nvPr/>
        </p:nvSpPr>
        <p:spPr>
          <a:xfrm>
            <a:off x="857160" y="361800"/>
            <a:ext cx="4952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COLLECTE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/>
          <p:nvPr/>
        </p:nvSpPr>
        <p:spPr>
          <a:xfrm>
            <a:off x="11049120" y="36180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08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609480" y="876240"/>
            <a:ext cx="990576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Filebeat suit les noeuds et ajoute le contexte Kubernetes.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628560" y="1809720"/>
            <a:ext cx="933408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Il ne connaît pas l'application : il lit les fichiers de logs des containers et ajoute les métadonnées utiles.</a:t>
            </a:r>
            <a:endParaRPr lang="fr-F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800280" y="2762280"/>
            <a:ext cx="2571480" cy="1695240"/>
          </a:xfrm>
          <a:prstGeom prst="rect">
            <a:avLst/>
          </a:prstGeom>
          <a:solidFill>
            <a:srgbClr val="0E1628"/>
          </a:solidFill>
          <a:ln w="12383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990720" y="3009960"/>
            <a:ext cx="11426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node-a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990720" y="3429000"/>
            <a:ext cx="1047240" cy="323640"/>
          </a:xfrm>
          <a:prstGeom prst="rect">
            <a:avLst/>
          </a:prstGeom>
          <a:solidFill>
            <a:srgbClr val="0B1220"/>
          </a:solidFill>
          <a:ln w="1143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1104840" y="3495600"/>
            <a:ext cx="8186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Filebeat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990720" y="3962520"/>
            <a:ext cx="180936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94A3B8"/>
                </a:solidFill>
                <a:effectLst/>
                <a:uFillTx/>
                <a:latin typeface="Aptos Mono"/>
                <a:ea typeface="Aptos Mono"/>
              </a:rPr>
              <a:t>/var/log/containers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"/>
          <p:cNvSpPr/>
          <p:nvPr/>
        </p:nvSpPr>
        <p:spPr>
          <a:xfrm>
            <a:off x="4038480" y="2762280"/>
            <a:ext cx="2571480" cy="1695240"/>
          </a:xfrm>
          <a:prstGeom prst="rect">
            <a:avLst/>
          </a:prstGeom>
          <a:solidFill>
            <a:srgbClr val="0E1628"/>
          </a:solidFill>
          <a:ln w="12383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4229280" y="3009960"/>
            <a:ext cx="11426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node-b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4229280" y="3429000"/>
            <a:ext cx="1047240" cy="323640"/>
          </a:xfrm>
          <a:prstGeom prst="rect">
            <a:avLst/>
          </a:prstGeom>
          <a:solidFill>
            <a:srgbClr val="0B1220"/>
          </a:solidFill>
          <a:ln w="1143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/>
          <p:nvPr/>
        </p:nvSpPr>
        <p:spPr>
          <a:xfrm>
            <a:off x="4343400" y="3495600"/>
            <a:ext cx="8186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Filebeat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4229280" y="3962520"/>
            <a:ext cx="180936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94A3B8"/>
                </a:solidFill>
                <a:effectLst/>
                <a:uFillTx/>
                <a:latin typeface="Aptos Mono"/>
                <a:ea typeface="Aptos Mono"/>
              </a:rPr>
              <a:t>/var/log/containers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7277040" y="2762280"/>
            <a:ext cx="2571480" cy="1695240"/>
          </a:xfrm>
          <a:prstGeom prst="rect">
            <a:avLst/>
          </a:prstGeom>
          <a:solidFill>
            <a:srgbClr val="0E1628"/>
          </a:solidFill>
          <a:ln w="12383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7467480" y="3009960"/>
            <a:ext cx="11426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node-c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7467480" y="3429000"/>
            <a:ext cx="1047240" cy="323640"/>
          </a:xfrm>
          <a:prstGeom prst="rect">
            <a:avLst/>
          </a:prstGeom>
          <a:solidFill>
            <a:srgbClr val="0B1220"/>
          </a:solidFill>
          <a:ln w="1143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7581960" y="3495600"/>
            <a:ext cx="8186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Filebeat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7467480" y="3962520"/>
            <a:ext cx="180936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94A3B8"/>
                </a:solidFill>
                <a:effectLst/>
                <a:uFillTx/>
                <a:latin typeface="Aptos Mono"/>
                <a:ea typeface="Aptos Mono"/>
              </a:rPr>
              <a:t>/var/log/containers</a:t>
            </a:r>
            <a:endParaRPr lang="fr-FR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9906120" y="3429000"/>
            <a:ext cx="17100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2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10096560" y="3000240"/>
            <a:ext cx="1238040" cy="1047240"/>
          </a:xfrm>
          <a:prstGeom prst="rect">
            <a:avLst/>
          </a:prstGeom>
          <a:solidFill>
            <a:srgbClr val="151826"/>
          </a:solidFill>
          <a:ln w="12383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10107000" y="3276720"/>
            <a:ext cx="1233000" cy="5032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Logstash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:5044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kicker-9-marker"/>
          <p:cNvSpPr/>
          <p:nvPr/>
        </p:nvSpPr>
        <p:spPr>
          <a:xfrm>
            <a:off x="609480" y="457200"/>
            <a:ext cx="114120" cy="11412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kicker-9-label"/>
          <p:cNvSpPr/>
          <p:nvPr/>
        </p:nvSpPr>
        <p:spPr>
          <a:xfrm>
            <a:off x="857160" y="361800"/>
            <a:ext cx="4952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PIPELINE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11049120" y="36180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09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609480" y="876240"/>
            <a:ext cx="990576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Logstash rend l'ingestion explicite : input, filter, output.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/>
          <p:nvPr/>
        </p:nvSpPr>
        <p:spPr>
          <a:xfrm>
            <a:off x="628560" y="1809720"/>
            <a:ext cx="933408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Pour un TP, il montre très bien où parser, enrichir et décider de l'index cible.</a:t>
            </a:r>
            <a:endParaRPr lang="fr-F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1219320" y="2800440"/>
            <a:ext cx="2717280" cy="1561680"/>
          </a:xfrm>
          <a:prstGeom prst="rect">
            <a:avLst/>
          </a:prstGeom>
          <a:solidFill>
            <a:srgbClr val="111827"/>
          </a:solidFill>
          <a:ln w="13335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1371600" y="2971800"/>
            <a:ext cx="241272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input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1371600" y="3352680"/>
            <a:ext cx="2412720" cy="742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beats {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  port =&gt; 5044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}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/>
          <p:nvPr/>
        </p:nvSpPr>
        <p:spPr>
          <a:xfrm>
            <a:off x="3975120" y="3429000"/>
            <a:ext cx="17100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4146480" y="2800440"/>
            <a:ext cx="2717280" cy="1561680"/>
          </a:xfrm>
          <a:prstGeom prst="rect">
            <a:avLst/>
          </a:prstGeom>
          <a:solidFill>
            <a:srgbClr val="111827"/>
          </a:solidFill>
          <a:ln w="13335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4299120" y="2971800"/>
            <a:ext cx="241272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filter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4299120" y="3352680"/>
            <a:ext cx="2412720" cy="742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json, mutate,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date, ruby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status_family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6902280" y="3429000"/>
            <a:ext cx="17100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7074000" y="2800440"/>
            <a:ext cx="2717280" cy="1561680"/>
          </a:xfrm>
          <a:prstGeom prst="rect">
            <a:avLst/>
          </a:prstGeom>
          <a:solidFill>
            <a:srgbClr val="111827"/>
          </a:solidFill>
          <a:ln w="13335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7226280" y="2971800"/>
            <a:ext cx="241272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C55E"/>
                </a:solidFill>
                <a:effectLst/>
                <a:uFillTx/>
                <a:latin typeface="Aptos"/>
                <a:ea typeface="Aptos"/>
              </a:rPr>
              <a:t>output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/>
          <p:nvPr/>
        </p:nvSpPr>
        <p:spPr>
          <a:xfrm>
            <a:off x="7226280" y="3352680"/>
            <a:ext cx="2412720" cy="7426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elasticsearch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index: elk-demo-logs-*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/>
          <p:nvPr/>
        </p:nvSpPr>
        <p:spPr>
          <a:xfrm>
            <a:off x="2438280" y="4762440"/>
            <a:ext cx="6476760" cy="914040"/>
          </a:xfrm>
          <a:prstGeom prst="rect">
            <a:avLst/>
          </a:prstGeom>
          <a:solidFill>
            <a:srgbClr val="070B14"/>
          </a:solidFill>
          <a:ln w="12383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2610000" y="4933800"/>
            <a:ext cx="6133680" cy="6472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Exemple d'enrichissement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status=504 -&gt; status_family="5xx"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namespace="elk-demo" -&gt; index TP dédié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EF444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kicker-10-marker"/>
          <p:cNvSpPr/>
          <p:nvPr/>
        </p:nvSpPr>
        <p:spPr>
          <a:xfrm>
            <a:off x="609480" y="457200"/>
            <a:ext cx="114120" cy="114120"/>
          </a:xfrm>
          <a:prstGeom prst="rect">
            <a:avLst/>
          </a:prstGeom>
          <a:solidFill>
            <a:srgbClr val="EF444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kicker-10-label"/>
          <p:cNvSpPr/>
          <p:nvPr/>
        </p:nvSpPr>
        <p:spPr>
          <a:xfrm>
            <a:off x="857160" y="361800"/>
            <a:ext cx="4952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F4444"/>
                </a:solidFill>
                <a:effectLst/>
                <a:uFillTx/>
                <a:latin typeface="Aptos"/>
                <a:ea typeface="Aptos"/>
              </a:rPr>
              <a:t>ELASTICSEARCH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11049120" y="36180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10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609480" y="876240"/>
            <a:ext cx="990576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La qualité de recherche dépend des index et des champs.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628560" y="1809720"/>
            <a:ext cx="933408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Les bons champs évitent les requêtes lentes, ambiguës ou impossibles à agréger.</a:t>
            </a:r>
            <a:endParaRPr lang="fr-F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819000" y="2629080"/>
            <a:ext cx="6190920" cy="1116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/>
          <p:nvPr/>
        </p:nvSpPr>
        <p:spPr>
          <a:xfrm>
            <a:off x="819000" y="5257800"/>
            <a:ext cx="6190920" cy="1116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819000" y="2629080"/>
            <a:ext cx="11160" cy="262872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/>
          <p:nvPr/>
        </p:nvSpPr>
        <p:spPr>
          <a:xfrm>
            <a:off x="7010280" y="2629080"/>
            <a:ext cx="11160" cy="262872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3543480" y="2629080"/>
            <a:ext cx="9000" cy="262872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5153040" y="2629080"/>
            <a:ext cx="9000" cy="262872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933480" y="2695680"/>
            <a:ext cx="2476080" cy="430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Notion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3666960" y="2695680"/>
            <a:ext cx="1361880" cy="430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Rôle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5276880" y="2695680"/>
            <a:ext cx="1547280" cy="430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Erreur classique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819000" y="3154680"/>
            <a:ext cx="619092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/>
          <p:nvPr/>
        </p:nvSpPr>
        <p:spPr>
          <a:xfrm>
            <a:off x="933480" y="3221280"/>
            <a:ext cx="2476080" cy="430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index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/>
          <p:nvPr/>
        </p:nvSpPr>
        <p:spPr>
          <a:xfrm>
            <a:off x="3666960" y="3221280"/>
            <a:ext cx="1361880" cy="430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où les événements sont stockés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5276880" y="3221280"/>
            <a:ext cx="1547280" cy="430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tout mélanger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819000" y="3680640"/>
            <a:ext cx="619092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/>
          <p:nvPr/>
        </p:nvSpPr>
        <p:spPr>
          <a:xfrm>
            <a:off x="933480" y="3747240"/>
            <a:ext cx="2476080" cy="430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mapping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3666960" y="3747240"/>
            <a:ext cx="1361880" cy="430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type des champs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5276880" y="3747240"/>
            <a:ext cx="1547280" cy="430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status en texte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819000" y="4206240"/>
            <a:ext cx="619092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933480" y="4272840"/>
            <a:ext cx="2476080" cy="430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keyword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3666960" y="4272840"/>
            <a:ext cx="1361880" cy="430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filtrer / agréger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5276880" y="4272840"/>
            <a:ext cx="1547280" cy="430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chercher sur text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/>
          <p:nvPr/>
        </p:nvSpPr>
        <p:spPr>
          <a:xfrm>
            <a:off x="819000" y="4732200"/>
            <a:ext cx="619092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/>
          <p:nvPr/>
        </p:nvSpPr>
        <p:spPr>
          <a:xfrm>
            <a:off x="933480" y="4798800"/>
            <a:ext cx="2476080" cy="430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timestamp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3666960" y="4798800"/>
            <a:ext cx="1361880" cy="430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axe temporel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5276880" y="4798800"/>
            <a:ext cx="1547280" cy="430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heure applicative absente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/>
          <p:nvPr/>
        </p:nvSpPr>
        <p:spPr>
          <a:xfrm>
            <a:off x="7543800" y="2838600"/>
            <a:ext cx="3047760" cy="2171520"/>
          </a:xfrm>
          <a:prstGeom prst="rect">
            <a:avLst/>
          </a:prstGeom>
          <a:solidFill>
            <a:srgbClr val="1B1114"/>
          </a:solidFill>
          <a:ln w="12383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7829640" y="3143160"/>
            <a:ext cx="171432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1" u="none" strike="noStrike">
                <a:solidFill>
                  <a:srgbClr val="EF4444"/>
                </a:solidFill>
                <a:effectLst/>
                <a:uFillTx/>
                <a:latin typeface="Aptos"/>
                <a:ea typeface="Aptos"/>
              </a:rPr>
              <a:t>Exemple</a:t>
            </a:r>
            <a:endParaRPr lang="fr-FR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7829640" y="3638520"/>
            <a:ext cx="2285640" cy="952200"/>
          </a:xfrm>
          <a:prstGeom prst="rect">
            <a:avLst/>
          </a:prstGeom>
          <a:solidFill>
            <a:srgbClr val="070B14"/>
          </a:solidFill>
          <a:ln w="12383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8001000" y="3809880"/>
            <a:ext cx="1942920" cy="685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status: 504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status_family: "5xx"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route.keyword: "/checkout"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"/>
          <p:cNvSpPr/>
          <p:nvPr/>
        </p:nvSpPr>
        <p:spPr>
          <a:xfrm>
            <a:off x="0" y="36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A78BF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kicker-11-marker"/>
          <p:cNvSpPr/>
          <p:nvPr/>
        </p:nvSpPr>
        <p:spPr>
          <a:xfrm>
            <a:off x="609480" y="457200"/>
            <a:ext cx="114120" cy="114120"/>
          </a:xfrm>
          <a:prstGeom prst="rect">
            <a:avLst/>
          </a:prstGeom>
          <a:solidFill>
            <a:srgbClr val="A78BF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kicker-11-label"/>
          <p:cNvSpPr/>
          <p:nvPr/>
        </p:nvSpPr>
        <p:spPr>
          <a:xfrm>
            <a:off x="857160" y="361800"/>
            <a:ext cx="4952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A78BFA"/>
                </a:solidFill>
                <a:effectLst/>
                <a:uFillTx/>
                <a:latin typeface="Aptos"/>
                <a:ea typeface="Aptos"/>
              </a:rPr>
              <a:t>KIBANA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11049120" y="36180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11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609480" y="876240"/>
            <a:ext cx="990576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Kibana est l'interface d'investigation et de partage.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628560" y="1809720"/>
            <a:ext cx="933408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Discover sert à chercher ; Lens et Dashboard servent à stabiliser une lecture commune.</a:t>
            </a:r>
            <a:endParaRPr lang="fr-F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876240" y="2781360"/>
            <a:ext cx="1737000" cy="1428480"/>
          </a:xfrm>
          <a:prstGeom prst="rect">
            <a:avLst/>
          </a:prstGeom>
          <a:solidFill>
            <a:srgbClr val="111827"/>
          </a:solidFill>
          <a:ln w="1333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1028880" y="2952720"/>
            <a:ext cx="1432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A78BFA"/>
                </a:solidFill>
                <a:effectLst/>
                <a:uFillTx/>
                <a:latin typeface="Aptos"/>
                <a:ea typeface="Aptos"/>
              </a:rPr>
              <a:t>Data View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1028880" y="3333600"/>
            <a:ext cx="143208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choisir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elk-demo-logs-*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2651760" y="3343320"/>
            <a:ext cx="17100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2823120" y="2781360"/>
            <a:ext cx="1737000" cy="1428480"/>
          </a:xfrm>
          <a:prstGeom prst="rect">
            <a:avLst/>
          </a:prstGeom>
          <a:solidFill>
            <a:srgbClr val="111827"/>
          </a:solidFill>
          <a:ln w="13335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"/>
          <p:cNvSpPr/>
          <p:nvPr/>
        </p:nvSpPr>
        <p:spPr>
          <a:xfrm>
            <a:off x="2975760" y="2952720"/>
            <a:ext cx="1432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Discover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2975760" y="3333600"/>
            <a:ext cx="143208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filtrer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lire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sauver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/>
          <p:nvPr/>
        </p:nvSpPr>
        <p:spPr>
          <a:xfrm>
            <a:off x="4598640" y="3343320"/>
            <a:ext cx="17100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4770000" y="2781360"/>
            <a:ext cx="1737000" cy="1428480"/>
          </a:xfrm>
          <a:prstGeom prst="rect">
            <a:avLst/>
          </a:prstGeom>
          <a:solidFill>
            <a:srgbClr val="111827"/>
          </a:solidFill>
          <a:ln w="13335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/>
          <p:nvPr/>
        </p:nvSpPr>
        <p:spPr>
          <a:xfrm>
            <a:off x="4922640" y="2952720"/>
            <a:ext cx="1432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C55E"/>
                </a:solidFill>
                <a:effectLst/>
                <a:uFillTx/>
                <a:latin typeface="Aptos"/>
                <a:ea typeface="Aptos"/>
              </a:rPr>
              <a:t>KQL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4850640" y="3405600"/>
            <a:ext cx="17942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Exprimer la question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6545520" y="3343320"/>
            <a:ext cx="17100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6716880" y="2781360"/>
            <a:ext cx="1737000" cy="1428480"/>
          </a:xfrm>
          <a:prstGeom prst="rect">
            <a:avLst/>
          </a:prstGeom>
          <a:solidFill>
            <a:srgbClr val="111827"/>
          </a:solidFill>
          <a:ln w="13335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6869520" y="2952720"/>
            <a:ext cx="1432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Lens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6804000" y="3405600"/>
            <a:ext cx="180000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Visualiser sans coder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8492400" y="3343320"/>
            <a:ext cx="17100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"/>
          <p:cNvSpPr/>
          <p:nvPr/>
        </p:nvSpPr>
        <p:spPr>
          <a:xfrm>
            <a:off x="8664120" y="2781360"/>
            <a:ext cx="1737000" cy="1428480"/>
          </a:xfrm>
          <a:prstGeom prst="rect">
            <a:avLst/>
          </a:prstGeom>
          <a:solidFill>
            <a:srgbClr val="111827"/>
          </a:solidFill>
          <a:ln w="13335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"/>
          <p:cNvSpPr/>
          <p:nvPr/>
        </p:nvSpPr>
        <p:spPr>
          <a:xfrm>
            <a:off x="8816400" y="2952720"/>
            <a:ext cx="1432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F4444"/>
                </a:solidFill>
                <a:effectLst/>
                <a:uFillTx/>
                <a:latin typeface="Aptos"/>
                <a:ea typeface="Aptos"/>
              </a:rPr>
              <a:t>Dashboard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/>
          <p:nvPr/>
        </p:nvSpPr>
        <p:spPr>
          <a:xfrm>
            <a:off x="8628120" y="3369600"/>
            <a:ext cx="195588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 anchorCtr="1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Partager 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selon l'audience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2038320" y="491508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/>
          <p:nvPr/>
        </p:nvSpPr>
        <p:spPr>
          <a:xfrm>
            <a:off x="2247840" y="4838760"/>
            <a:ext cx="70290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Le développeur cherche les causes.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2038320" y="5276880"/>
            <a:ext cx="66240" cy="66240"/>
          </a:xfrm>
          <a:prstGeom prst="rect">
            <a:avLst/>
          </a:prstGeom>
          <a:solidFill>
            <a:srgbClr val="A78BF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2247840" y="5200560"/>
            <a:ext cx="70290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Le support suit l'impact et les cas récents.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2038320" y="5638680"/>
            <a:ext cx="66240" cy="66240"/>
          </a:xfrm>
          <a:prstGeom prst="rect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2247840" y="5562720"/>
            <a:ext cx="70290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Les deux exploitent les mêmes logs, mais pas les mêmes vues.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60A5F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kicker-12-marker"/>
          <p:cNvSpPr/>
          <p:nvPr/>
        </p:nvSpPr>
        <p:spPr>
          <a:xfrm>
            <a:off x="609480" y="457200"/>
            <a:ext cx="114120" cy="114120"/>
          </a:xfrm>
          <a:prstGeom prst="rect">
            <a:avLst/>
          </a:prstGeom>
          <a:solidFill>
            <a:srgbClr val="60A5F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kicker-12-label"/>
          <p:cNvSpPr/>
          <p:nvPr/>
        </p:nvSpPr>
        <p:spPr>
          <a:xfrm>
            <a:off x="857160" y="361800"/>
            <a:ext cx="4952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60A5FA"/>
                </a:solidFill>
                <a:effectLst/>
                <a:uFillTx/>
                <a:latin typeface="Aptos"/>
                <a:ea typeface="Aptos"/>
              </a:rPr>
              <a:t>DÉPLOIEMENT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/>
          <p:nvPr/>
        </p:nvSpPr>
        <p:spPr>
          <a:xfrm>
            <a:off x="11049120" y="36180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12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609480" y="876240"/>
            <a:ext cx="990576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Le mode de déploiement choisit le niveau d'abstraction.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628560" y="1809720"/>
            <a:ext cx="933408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Le TP est manuel, mais les étudiants doivent situer Helm, ECK et le cloud.</a:t>
            </a:r>
            <a:endParaRPr lang="fr-F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781200" y="2495520"/>
            <a:ext cx="9810360" cy="1116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781200" y="5505480"/>
            <a:ext cx="9810360" cy="1116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781200" y="2495520"/>
            <a:ext cx="11160" cy="300960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10591920" y="2495520"/>
            <a:ext cx="11160" cy="300960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"/>
          <p:cNvSpPr/>
          <p:nvPr/>
        </p:nvSpPr>
        <p:spPr>
          <a:xfrm>
            <a:off x="5097960" y="2495520"/>
            <a:ext cx="9000" cy="30096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"/>
          <p:cNvSpPr/>
          <p:nvPr/>
        </p:nvSpPr>
        <p:spPr>
          <a:xfrm>
            <a:off x="7648560" y="2495520"/>
            <a:ext cx="9000" cy="30096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/>
          <p:nvPr/>
        </p:nvSpPr>
        <p:spPr>
          <a:xfrm>
            <a:off x="895320" y="2562120"/>
            <a:ext cx="3924000" cy="334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Méthode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5294160" y="2562120"/>
            <a:ext cx="2157840" cy="334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Avantage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/>
          <p:nvPr/>
        </p:nvSpPr>
        <p:spPr>
          <a:xfrm>
            <a:off x="7844760" y="2562120"/>
            <a:ext cx="2452320" cy="334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Limite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781200" y="2925360"/>
            <a:ext cx="981036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895320" y="2992320"/>
            <a:ext cx="3924000" cy="334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C55E"/>
                </a:solidFill>
                <a:effectLst/>
                <a:uFillTx/>
                <a:latin typeface="Aptos"/>
                <a:ea typeface="Aptos"/>
              </a:rPr>
              <a:t>Manifests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5294160" y="2992320"/>
            <a:ext cx="2157840" cy="334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lisible, corrigeable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7844760" y="2992320"/>
            <a:ext cx="2452320" cy="334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verbeux, maintenance manuelle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781200" y="3355560"/>
            <a:ext cx="981036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895320" y="3422160"/>
            <a:ext cx="3924000" cy="334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Docker Compose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"/>
          <p:cNvSpPr/>
          <p:nvPr/>
        </p:nvSpPr>
        <p:spPr>
          <a:xfrm>
            <a:off x="5294160" y="3422160"/>
            <a:ext cx="2157840" cy="334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excellent local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7844760" y="3422160"/>
            <a:ext cx="2452320" cy="334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moins Kubernetes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/>
          <p:nvPr/>
        </p:nvSpPr>
        <p:spPr>
          <a:xfrm>
            <a:off x="781200" y="3785400"/>
            <a:ext cx="981036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895320" y="3852360"/>
            <a:ext cx="3924000" cy="334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Helm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/>
          <p:nvPr/>
        </p:nvSpPr>
        <p:spPr>
          <a:xfrm>
            <a:off x="5294160" y="3852360"/>
            <a:ext cx="2157840" cy="334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standard, rapide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7844760" y="3852360"/>
            <a:ext cx="2452320" cy="334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masque les objets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781200" y="4215600"/>
            <a:ext cx="981036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895320" y="4282200"/>
            <a:ext cx="3924000" cy="334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A78BFA"/>
                </a:solidFill>
                <a:effectLst/>
                <a:uFillTx/>
                <a:latin typeface="Aptos"/>
                <a:ea typeface="Aptos"/>
              </a:rPr>
              <a:t>ECK Operator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5294160" y="4282200"/>
            <a:ext cx="2157840" cy="334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robuste en prod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7844760" y="4282200"/>
            <a:ext cx="2452320" cy="334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CRD et complexité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781200" y="4645440"/>
            <a:ext cx="981036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"/>
          <p:cNvSpPr/>
          <p:nvPr/>
        </p:nvSpPr>
        <p:spPr>
          <a:xfrm>
            <a:off x="895320" y="4712040"/>
            <a:ext cx="3924000" cy="334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F4444"/>
                </a:solidFill>
                <a:effectLst/>
                <a:uFillTx/>
                <a:latin typeface="Aptos"/>
                <a:ea typeface="Aptos"/>
              </a:rPr>
              <a:t>Elastic Cloud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"/>
          <p:cNvSpPr/>
          <p:nvPr/>
        </p:nvSpPr>
        <p:spPr>
          <a:xfrm>
            <a:off x="5294160" y="4712040"/>
            <a:ext cx="2157840" cy="334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opérationnel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/>
          <p:nvPr/>
        </p:nvSpPr>
        <p:spPr>
          <a:xfrm>
            <a:off x="7844760" y="4712040"/>
            <a:ext cx="2452320" cy="334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moins formateur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781200" y="5075640"/>
            <a:ext cx="981036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/>
          <p:nvPr/>
        </p:nvSpPr>
        <p:spPr>
          <a:xfrm>
            <a:off x="895320" y="5142240"/>
            <a:ext cx="3924000" cy="334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60A5FA"/>
                </a:solidFill>
                <a:effectLst/>
                <a:uFillTx/>
                <a:latin typeface="Aptos"/>
                <a:ea typeface="Aptos"/>
              </a:rPr>
              <a:t>OpenSearch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5294160" y="5142240"/>
            <a:ext cx="2157840" cy="334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alternative à connaître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7844760" y="5142240"/>
            <a:ext cx="2452320" cy="334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écosystème différent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kicker-13-marker"/>
          <p:cNvSpPr/>
          <p:nvPr/>
        </p:nvSpPr>
        <p:spPr>
          <a:xfrm>
            <a:off x="609480" y="457200"/>
            <a:ext cx="114120" cy="11412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kicker-13-label"/>
          <p:cNvSpPr/>
          <p:nvPr/>
        </p:nvSpPr>
        <p:spPr>
          <a:xfrm>
            <a:off x="857160" y="361800"/>
            <a:ext cx="4952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RECHERCHE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11049120" y="36180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13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609480" y="876240"/>
            <a:ext cx="990576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Discover et KQL forment le cockpit d'investigation.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/>
          <p:nvPr/>
        </p:nvSpPr>
        <p:spPr>
          <a:xfrm>
            <a:off x="628560" y="1809720"/>
            <a:ext cx="933408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La requête doit rester proche de la question métier ou technique posée.</a:t>
            </a:r>
            <a:endParaRPr lang="fr-F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876240" y="2685960"/>
            <a:ext cx="5219280" cy="1599840"/>
          </a:xfrm>
          <a:prstGeom prst="rect">
            <a:avLst/>
          </a:prstGeom>
          <a:solidFill>
            <a:srgbClr val="070B14"/>
          </a:solidFill>
          <a:ln w="12383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>
            <a:off x="1047600" y="2857680"/>
            <a:ext cx="4876560" cy="1333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status &gt;= 500 and route : "/checkout"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level : "error" and service : "api"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request_id : "req-7fe1"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status_family : "4xx" or status_family : "5xx"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>
            <a:off x="6705720" y="2495520"/>
            <a:ext cx="3714480" cy="2381040"/>
          </a:xfrm>
          <a:prstGeom prst="rect">
            <a:avLst/>
          </a:prstGeom>
          <a:solidFill>
            <a:srgbClr val="0E1628"/>
          </a:solidFill>
          <a:ln w="12383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6991200" y="2800440"/>
            <a:ext cx="152352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7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Routine</a:t>
            </a:r>
            <a:endParaRPr lang="fr-FR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7010280" y="333360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7219800" y="3257640"/>
            <a:ext cx="255240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borner le temps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>
            <a:off x="7010280" y="361944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"/>
          <p:cNvSpPr/>
          <p:nvPr/>
        </p:nvSpPr>
        <p:spPr>
          <a:xfrm>
            <a:off x="7219800" y="3543480"/>
            <a:ext cx="255240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filtrer le service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"/>
          <p:cNvSpPr/>
          <p:nvPr/>
        </p:nvSpPr>
        <p:spPr>
          <a:xfrm>
            <a:off x="7010280" y="390528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7219800" y="3828960"/>
            <a:ext cx="255240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filtrer route/status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"/>
          <p:cNvSpPr/>
          <p:nvPr/>
        </p:nvSpPr>
        <p:spPr>
          <a:xfrm>
            <a:off x="7010280" y="419112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7219800" y="4114800"/>
            <a:ext cx="255240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ouvrir les logs liés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7010280" y="447660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7219800" y="4400640"/>
            <a:ext cx="2552400" cy="247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sauver la recherche utile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kicker-14-marker"/>
          <p:cNvSpPr/>
          <p:nvPr/>
        </p:nvSpPr>
        <p:spPr>
          <a:xfrm>
            <a:off x="609480" y="457200"/>
            <a:ext cx="114120" cy="11412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kicker-14-label"/>
          <p:cNvSpPr/>
          <p:nvPr/>
        </p:nvSpPr>
        <p:spPr>
          <a:xfrm>
            <a:off x="857160" y="361800"/>
            <a:ext cx="4952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EXEMPLE DASHBOARD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11049120" y="36180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14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609480" y="876240"/>
            <a:ext cx="990576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Le dashboard développeur accélère le debug.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628560" y="1809720"/>
            <a:ext cx="933408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Il met au premier plan les causes probables : route, niveau, message, requête récente.</a:t>
            </a:r>
            <a:endParaRPr lang="fr-F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743040" y="2362320"/>
            <a:ext cx="1666440" cy="990360"/>
          </a:xfrm>
          <a:prstGeom prst="rect">
            <a:avLst/>
          </a:prstGeom>
          <a:solidFill>
            <a:srgbClr val="0E1628"/>
          </a:solidFill>
          <a:ln w="1143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876240" y="2486160"/>
            <a:ext cx="139968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70" b="1" u="none" strike="noStrike">
                <a:solidFill>
                  <a:srgbClr val="EF4444"/>
                </a:solidFill>
                <a:effectLst/>
                <a:uFillTx/>
                <a:latin typeface="Aptos"/>
                <a:ea typeface="Aptos"/>
              </a:rPr>
              <a:t>18</a:t>
            </a:r>
            <a:endParaRPr lang="fr-FR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876240" y="2876400"/>
            <a:ext cx="13996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5xx sur 5 min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876240" y="3086280"/>
            <a:ext cx="1399680" cy="132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seuil alerte: 10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2610000" y="2362320"/>
            <a:ext cx="1666440" cy="990360"/>
          </a:xfrm>
          <a:prstGeom prst="rect">
            <a:avLst/>
          </a:prstGeom>
          <a:solidFill>
            <a:srgbClr val="0E1628"/>
          </a:solidFill>
          <a:ln w="1143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"/>
          <p:cNvSpPr/>
          <p:nvPr/>
        </p:nvSpPr>
        <p:spPr>
          <a:xfrm>
            <a:off x="2743200" y="2486160"/>
            <a:ext cx="139968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7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840 ms</a:t>
            </a:r>
            <a:endParaRPr lang="fr-FR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"/>
          <p:cNvSpPr/>
          <p:nvPr/>
        </p:nvSpPr>
        <p:spPr>
          <a:xfrm>
            <a:off x="2743200" y="2876400"/>
            <a:ext cx="13996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p95 duration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/>
          <p:nvPr/>
        </p:nvSpPr>
        <p:spPr>
          <a:xfrm>
            <a:off x="2743200" y="3086280"/>
            <a:ext cx="1399680" cy="132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/checkout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4476600" y="2362320"/>
            <a:ext cx="1666440" cy="990360"/>
          </a:xfrm>
          <a:prstGeom prst="rect">
            <a:avLst/>
          </a:prstGeom>
          <a:solidFill>
            <a:srgbClr val="0E1628"/>
          </a:solidFill>
          <a:ln w="11430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"/>
          <p:cNvSpPr/>
          <p:nvPr/>
        </p:nvSpPr>
        <p:spPr>
          <a:xfrm>
            <a:off x="4610160" y="2486160"/>
            <a:ext cx="139968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7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4</a:t>
            </a:r>
            <a:endParaRPr lang="fr-FR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4610160" y="2876400"/>
            <a:ext cx="139968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routes touchées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4610160" y="3086280"/>
            <a:ext cx="1399680" cy="132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api + checkout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743040" y="3486240"/>
            <a:ext cx="4952520" cy="1676160"/>
          </a:xfrm>
          <a:prstGeom prst="rect">
            <a:avLst/>
          </a:prstGeom>
          <a:solidFill>
            <a:srgbClr val="0E1628"/>
          </a:solidFill>
          <a:ln w="12383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971640" y="3695760"/>
            <a:ext cx="209520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Erreurs par minute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1066680" y="4800600"/>
            <a:ext cx="4095360" cy="1116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1095480" y="4732200"/>
            <a:ext cx="606240" cy="6840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3760" rIns="90000" bIns="2376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"/>
          <p:cNvSpPr/>
          <p:nvPr/>
        </p:nvSpPr>
        <p:spPr>
          <a:xfrm>
            <a:off x="1057320" y="4876920"/>
            <a:ext cx="6822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15:02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"/>
          <p:cNvSpPr/>
          <p:nvPr/>
        </p:nvSpPr>
        <p:spPr>
          <a:xfrm>
            <a:off x="1778040" y="4697640"/>
            <a:ext cx="606240" cy="10260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"/>
          <p:cNvSpPr/>
          <p:nvPr/>
        </p:nvSpPr>
        <p:spPr>
          <a:xfrm>
            <a:off x="1739880" y="4876920"/>
            <a:ext cx="6822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15:03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>
            <a:off x="2460600" y="4492080"/>
            <a:ext cx="606240" cy="308160"/>
          </a:xfrm>
          <a:prstGeom prst="rect">
            <a:avLst/>
          </a:prstGeom>
          <a:solidFill>
            <a:srgbClr val="EF444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2422440" y="4876920"/>
            <a:ext cx="6822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15:04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>
            <a:off x="3143160" y="4183560"/>
            <a:ext cx="606240" cy="617040"/>
          </a:xfrm>
          <a:prstGeom prst="rect">
            <a:avLst/>
          </a:prstGeom>
          <a:solidFill>
            <a:srgbClr val="EF444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3105000" y="4876920"/>
            <a:ext cx="6822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15:05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3825720" y="4423320"/>
            <a:ext cx="606240" cy="37692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3787920" y="4876920"/>
            <a:ext cx="6822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15:06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4508640" y="4629240"/>
            <a:ext cx="606240" cy="17100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>
            <a:off x="4470480" y="4876920"/>
            <a:ext cx="68220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15:07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"/>
          <p:cNvSpPr/>
          <p:nvPr/>
        </p:nvSpPr>
        <p:spPr>
          <a:xfrm>
            <a:off x="6305400" y="2362320"/>
            <a:ext cx="4381200" cy="1180800"/>
          </a:xfrm>
          <a:prstGeom prst="rect">
            <a:avLst/>
          </a:prstGeom>
          <a:solidFill>
            <a:srgbClr val="0E1628"/>
          </a:solidFill>
          <a:ln w="12383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>
            <a:off x="6553080" y="2571840"/>
            <a:ext cx="21902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Top routes en erreur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/>
          <p:nvPr/>
        </p:nvSpPr>
        <p:spPr>
          <a:xfrm>
            <a:off x="6572160" y="2819520"/>
            <a:ext cx="10472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/checkout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>
            <a:off x="7715160" y="2847960"/>
            <a:ext cx="1999800" cy="114120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/>
          <p:nvPr/>
        </p:nvSpPr>
        <p:spPr>
          <a:xfrm>
            <a:off x="7715160" y="2847960"/>
            <a:ext cx="1839960" cy="114120"/>
          </a:xfrm>
          <a:prstGeom prst="rect">
            <a:avLst/>
          </a:prstGeom>
          <a:solidFill>
            <a:srgbClr val="EF444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9829800" y="2790720"/>
            <a:ext cx="3614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18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>
            <a:off x="6572160" y="3029040"/>
            <a:ext cx="10472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/orders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>
            <a:off x="7715160" y="3057480"/>
            <a:ext cx="1999800" cy="114120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/>
          <p:nvPr/>
        </p:nvSpPr>
        <p:spPr>
          <a:xfrm>
            <a:off x="7715160" y="3057480"/>
            <a:ext cx="959760" cy="11412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9829800" y="3000240"/>
            <a:ext cx="3614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9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6572160" y="3238560"/>
            <a:ext cx="10472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/login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"/>
          <p:cNvSpPr/>
          <p:nvPr/>
        </p:nvSpPr>
        <p:spPr>
          <a:xfrm>
            <a:off x="7715160" y="3267000"/>
            <a:ext cx="1999800" cy="114120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"/>
          <p:cNvSpPr/>
          <p:nvPr/>
        </p:nvSpPr>
        <p:spPr>
          <a:xfrm>
            <a:off x="7715160" y="3267000"/>
            <a:ext cx="559800" cy="11412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/>
          <p:nvPr/>
        </p:nvSpPr>
        <p:spPr>
          <a:xfrm>
            <a:off x="9829800" y="3209760"/>
            <a:ext cx="3614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5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>
            <a:off x="6305400" y="3790800"/>
            <a:ext cx="4381200" cy="1116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/>
          <p:nvPr/>
        </p:nvSpPr>
        <p:spPr>
          <a:xfrm>
            <a:off x="6305400" y="5143680"/>
            <a:ext cx="4381200" cy="1116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6305400" y="3790800"/>
            <a:ext cx="11160" cy="135216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10686960" y="3790800"/>
            <a:ext cx="11160" cy="135216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8233560" y="3790800"/>
            <a:ext cx="9000" cy="135216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9372600" y="3790800"/>
            <a:ext cx="9000" cy="135216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6419880" y="3857760"/>
            <a:ext cx="1752120" cy="242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time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8321040" y="3857760"/>
            <a:ext cx="963720" cy="242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request_id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9460080" y="3857760"/>
            <a:ext cx="1095120" cy="242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message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"/>
          <p:cNvSpPr/>
          <p:nvPr/>
        </p:nvSpPr>
        <p:spPr>
          <a:xfrm>
            <a:off x="6305400" y="4129200"/>
            <a:ext cx="438120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6419880" y="4195800"/>
            <a:ext cx="1752120" cy="242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F4444"/>
                </a:solidFill>
                <a:effectLst/>
                <a:uFillTx/>
                <a:latin typeface="Aptos"/>
                <a:ea typeface="Aptos"/>
              </a:rPr>
              <a:t>15:05:12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8321040" y="4195800"/>
            <a:ext cx="963720" cy="242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req-7fe1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/>
          <p:nvPr/>
        </p:nvSpPr>
        <p:spPr>
          <a:xfrm>
            <a:off x="9460080" y="4195800"/>
            <a:ext cx="1095120" cy="242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payment timeout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6305400" y="4467240"/>
            <a:ext cx="438120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>
            <a:off x="6419880" y="4533840"/>
            <a:ext cx="1752120" cy="242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F4444"/>
                </a:solidFill>
                <a:effectLst/>
                <a:uFillTx/>
                <a:latin typeface="Aptos"/>
                <a:ea typeface="Aptos"/>
              </a:rPr>
              <a:t>15:05:19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8321040" y="4533840"/>
            <a:ext cx="963720" cy="242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req-8ab0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>
            <a:off x="9460080" y="4533840"/>
            <a:ext cx="1095120" cy="242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upstream 504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>
            <a:off x="6305400" y="4805280"/>
            <a:ext cx="438120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6419880" y="4871880"/>
            <a:ext cx="1752120" cy="242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15:06:01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"/>
          <p:cNvSpPr/>
          <p:nvPr/>
        </p:nvSpPr>
        <p:spPr>
          <a:xfrm>
            <a:off x="8321040" y="4871880"/>
            <a:ext cx="963720" cy="242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req-9cc2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"/>
          <p:cNvSpPr/>
          <p:nvPr/>
        </p:nvSpPr>
        <p:spPr>
          <a:xfrm>
            <a:off x="9460080" y="4871880"/>
            <a:ext cx="1095120" cy="242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validation failed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kicker-14-marker 1"/>
          <p:cNvSpPr/>
          <p:nvPr/>
        </p:nvSpPr>
        <p:spPr>
          <a:xfrm>
            <a:off x="609480" y="457200"/>
            <a:ext cx="114120" cy="11412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kicker-14-label 1"/>
          <p:cNvSpPr/>
          <p:nvPr/>
        </p:nvSpPr>
        <p:spPr>
          <a:xfrm>
            <a:off x="857160" y="361800"/>
            <a:ext cx="4952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EXEMPLE DASHBOARD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11049120" y="36180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14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609480" y="876240"/>
            <a:ext cx="990576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Le dashboard développeur accélère le debug.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8" name=""/>
          <p:cNvPicPr/>
          <p:nvPr/>
        </p:nvPicPr>
        <p:blipFill>
          <a:blip r:embed="rId1"/>
          <a:stretch/>
        </p:blipFill>
        <p:spPr>
          <a:xfrm>
            <a:off x="155160" y="1521720"/>
            <a:ext cx="6129000" cy="312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9" name=""/>
          <p:cNvPicPr/>
          <p:nvPr/>
        </p:nvPicPr>
        <p:blipFill>
          <a:blip r:embed="rId2"/>
          <a:stretch/>
        </p:blipFill>
        <p:spPr>
          <a:xfrm>
            <a:off x="6356160" y="2196000"/>
            <a:ext cx="5703840" cy="3209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A78BF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kicker-15-marker"/>
          <p:cNvSpPr/>
          <p:nvPr/>
        </p:nvSpPr>
        <p:spPr>
          <a:xfrm>
            <a:off x="609480" y="457200"/>
            <a:ext cx="114120" cy="114120"/>
          </a:xfrm>
          <a:prstGeom prst="rect">
            <a:avLst/>
          </a:prstGeom>
          <a:solidFill>
            <a:srgbClr val="A78BF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kicker-15-label"/>
          <p:cNvSpPr/>
          <p:nvPr/>
        </p:nvSpPr>
        <p:spPr>
          <a:xfrm>
            <a:off x="857160" y="361800"/>
            <a:ext cx="4952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A78BFA"/>
                </a:solidFill>
                <a:effectLst/>
                <a:uFillTx/>
                <a:latin typeface="Aptos"/>
                <a:ea typeface="Aptos"/>
              </a:rPr>
              <a:t>EXEMPLE DASHBOARD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11049120" y="36180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15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609480" y="876240"/>
            <a:ext cx="990576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Le dashboard support traduit les logs en impact lisible.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628560" y="1809720"/>
            <a:ext cx="933408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Il évite les détails d'ingestion et met en avant les incidents récents, fonctionnalités et statuts.</a:t>
            </a:r>
            <a:endParaRPr lang="fr-F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>
            <a:off x="743040" y="2362320"/>
            <a:ext cx="1618920" cy="990360"/>
          </a:xfrm>
          <a:prstGeom prst="rect">
            <a:avLst/>
          </a:prstGeom>
          <a:solidFill>
            <a:srgbClr val="0E1628"/>
          </a:solidFill>
          <a:ln w="1143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>
            <a:off x="876240" y="2486160"/>
            <a:ext cx="135216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70" b="1" u="none" strike="noStrike">
                <a:solidFill>
                  <a:srgbClr val="EF4444"/>
                </a:solidFill>
                <a:effectLst/>
                <a:uFillTx/>
                <a:latin typeface="Aptos"/>
                <a:ea typeface="Aptos"/>
              </a:rPr>
              <a:t>3</a:t>
            </a:r>
            <a:endParaRPr lang="fr-FR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876240" y="2876400"/>
            <a:ext cx="13521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incidents ouverts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2552760" y="2362320"/>
            <a:ext cx="1618920" cy="990360"/>
          </a:xfrm>
          <a:prstGeom prst="rect">
            <a:avLst/>
          </a:prstGeom>
          <a:solidFill>
            <a:srgbClr val="0E1628"/>
          </a:solidFill>
          <a:ln w="11430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>
            <a:off x="2685960" y="2486160"/>
            <a:ext cx="135216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70" b="1" u="none" strike="noStrike">
                <a:solidFill>
                  <a:srgbClr val="A78BFA"/>
                </a:solidFill>
                <a:effectLst/>
                <a:uFillTx/>
                <a:latin typeface="Aptos"/>
                <a:ea typeface="Aptos"/>
              </a:rPr>
              <a:t>12</a:t>
            </a:r>
            <a:endParaRPr lang="fr-FR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>
            <a:off x="2685960" y="2876400"/>
            <a:ext cx="13521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clients impactés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>
            <a:off x="2685960" y="3086280"/>
            <a:ext cx="1352160" cy="132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anonymisés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>
            <a:off x="4362480" y="2362320"/>
            <a:ext cx="1618920" cy="990360"/>
          </a:xfrm>
          <a:prstGeom prst="rect">
            <a:avLst/>
          </a:prstGeom>
          <a:solidFill>
            <a:srgbClr val="0E1628"/>
          </a:solidFill>
          <a:ln w="1143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4495680" y="2486160"/>
            <a:ext cx="135216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7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2 min</a:t>
            </a:r>
            <a:endParaRPr lang="fr-FR" sz="21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>
            <a:off x="4495680" y="2876400"/>
            <a:ext cx="1352160" cy="1710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dernier 5xx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>
            <a:off x="4495680" y="3086280"/>
            <a:ext cx="1352160" cy="132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checkout</a:t>
            </a:r>
            <a:endParaRPr lang="fr-FR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6515280" y="2362320"/>
            <a:ext cx="3809520" cy="1428480"/>
          </a:xfrm>
          <a:prstGeom prst="rect">
            <a:avLst/>
          </a:prstGeom>
          <a:solidFill>
            <a:srgbClr val="0E1628"/>
          </a:solidFill>
          <a:ln w="12383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6743880" y="2571840"/>
            <a:ext cx="199980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Répartition statuts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>
            <a:off x="6934320" y="2849040"/>
            <a:ext cx="856800" cy="856800"/>
          </a:xfrm>
          <a:prstGeom prst="ellipse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7543800" y="2849040"/>
            <a:ext cx="247320" cy="8568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7696080" y="2849040"/>
            <a:ext cx="95040" cy="856800"/>
          </a:xfrm>
          <a:prstGeom prst="rect">
            <a:avLst/>
          </a:prstGeom>
          <a:solidFill>
            <a:srgbClr val="EF444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7162920" y="3077640"/>
            <a:ext cx="399600" cy="399600"/>
          </a:xfrm>
          <a:prstGeom prst="ellipse">
            <a:avLst/>
          </a:prstGeom>
          <a:solidFill>
            <a:srgbClr val="0E162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>
            <a:off x="8676360" y="2669040"/>
            <a:ext cx="875880" cy="323640"/>
          </a:xfrm>
          <a:prstGeom prst="rect">
            <a:avLst/>
          </a:prstGeom>
          <a:solidFill>
            <a:srgbClr val="0B1220"/>
          </a:solidFill>
          <a:ln w="11430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8790840" y="2735640"/>
            <a:ext cx="64728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22C55E"/>
                </a:solidFill>
                <a:effectLst/>
                <a:uFillTx/>
                <a:latin typeface="Aptos"/>
                <a:ea typeface="Aptos"/>
              </a:rPr>
              <a:t>2xx 82%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8676360" y="3030840"/>
            <a:ext cx="875880" cy="323640"/>
          </a:xfrm>
          <a:prstGeom prst="rect">
            <a:avLst/>
          </a:prstGeom>
          <a:solidFill>
            <a:srgbClr val="0B1220"/>
          </a:solidFill>
          <a:ln w="1143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>
            <a:off x="8790840" y="3097440"/>
            <a:ext cx="64728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4xx 13%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>
            <a:off x="8676360" y="3393000"/>
            <a:ext cx="875880" cy="323640"/>
          </a:xfrm>
          <a:prstGeom prst="rect">
            <a:avLst/>
          </a:prstGeom>
          <a:solidFill>
            <a:srgbClr val="0B1220"/>
          </a:solidFill>
          <a:ln w="11430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8790840" y="3459600"/>
            <a:ext cx="64728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1" u="none" strike="noStrike">
                <a:solidFill>
                  <a:srgbClr val="EF4444"/>
                </a:solidFill>
                <a:effectLst/>
                <a:uFillTx/>
                <a:latin typeface="Aptos"/>
                <a:ea typeface="Aptos"/>
              </a:rPr>
              <a:t>5xx 5%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743040" y="4038480"/>
            <a:ext cx="4952520" cy="1161720"/>
          </a:xfrm>
          <a:prstGeom prst="rect">
            <a:avLst/>
          </a:prstGeom>
          <a:solidFill>
            <a:srgbClr val="0E1628"/>
          </a:solidFill>
          <a:ln w="12383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990720" y="4248000"/>
            <a:ext cx="23810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1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Fonctionnalités impactées</a:t>
            </a:r>
            <a:endParaRPr lang="fr-FR" sz="12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990720" y="4457880"/>
            <a:ext cx="10472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Paiement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2133720" y="4486320"/>
            <a:ext cx="2095200" cy="114120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2133720" y="4486320"/>
            <a:ext cx="1550160" cy="114120"/>
          </a:xfrm>
          <a:prstGeom prst="rect">
            <a:avLst/>
          </a:prstGeom>
          <a:solidFill>
            <a:srgbClr val="EF444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>
            <a:off x="4343400" y="4429080"/>
            <a:ext cx="3614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haut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>
            <a:off x="990720" y="4667400"/>
            <a:ext cx="10472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Commande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>
            <a:off x="2133720" y="4695840"/>
            <a:ext cx="2095200" cy="114120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"/>
          <p:cNvSpPr/>
          <p:nvPr/>
        </p:nvSpPr>
        <p:spPr>
          <a:xfrm>
            <a:off x="2133720" y="4695840"/>
            <a:ext cx="879840" cy="11412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>
            <a:off x="4343400" y="4638600"/>
            <a:ext cx="3614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moyen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990720" y="4876920"/>
            <a:ext cx="10472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Login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>
            <a:off x="2133720" y="4905360"/>
            <a:ext cx="2095200" cy="114120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"/>
          <p:cNvSpPr/>
          <p:nvPr/>
        </p:nvSpPr>
        <p:spPr>
          <a:xfrm>
            <a:off x="2133720" y="4905360"/>
            <a:ext cx="418680" cy="114120"/>
          </a:xfrm>
          <a:prstGeom prst="rect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>
            <a:off x="4343400" y="4848120"/>
            <a:ext cx="361440" cy="1900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bas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6515280" y="4038480"/>
            <a:ext cx="3809520" cy="1116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>
            <a:off x="6515280" y="5200560"/>
            <a:ext cx="3809520" cy="1116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>
            <a:off x="6515280" y="4038480"/>
            <a:ext cx="11160" cy="116172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>
            <a:off x="10325160" y="4038480"/>
            <a:ext cx="11160" cy="116172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8191440" y="4038480"/>
            <a:ext cx="9000" cy="116172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>
            <a:off x="9182160" y="4038480"/>
            <a:ext cx="9000" cy="116172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>
            <a:off x="6629400" y="4105440"/>
            <a:ext cx="1523520" cy="1947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heure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>
            <a:off x="8267760" y="4105440"/>
            <a:ext cx="837720" cy="1947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fonction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>
            <a:off x="9258480" y="4105440"/>
            <a:ext cx="952200" cy="1947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statut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>
            <a:off x="6515280" y="4329000"/>
            <a:ext cx="380952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>
            <a:off x="6629400" y="4395960"/>
            <a:ext cx="1523520" cy="1947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F4444"/>
                </a:solidFill>
                <a:effectLst/>
                <a:uFillTx/>
                <a:latin typeface="Aptos"/>
                <a:ea typeface="Aptos"/>
              </a:rPr>
              <a:t>15:05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>
            <a:off x="8267760" y="4395960"/>
            <a:ext cx="837720" cy="1947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Paiement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"/>
          <p:cNvSpPr/>
          <p:nvPr/>
        </p:nvSpPr>
        <p:spPr>
          <a:xfrm>
            <a:off x="9258480" y="4395960"/>
            <a:ext cx="952200" cy="1947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dégradé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"/>
          <p:cNvSpPr/>
          <p:nvPr/>
        </p:nvSpPr>
        <p:spPr>
          <a:xfrm>
            <a:off x="6515280" y="4619520"/>
            <a:ext cx="380952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>
            <a:off x="6629400" y="4686480"/>
            <a:ext cx="1523520" cy="1947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15:06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>
            <a:off x="8267760" y="4686480"/>
            <a:ext cx="837720" cy="1947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Commande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9258480" y="4686480"/>
            <a:ext cx="952200" cy="1947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surveiller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>
            <a:off x="6515280" y="4910040"/>
            <a:ext cx="380952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>
            <a:off x="6629400" y="4976640"/>
            <a:ext cx="1523520" cy="1947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C55E"/>
                </a:solidFill>
                <a:effectLst/>
                <a:uFillTx/>
                <a:latin typeface="Aptos"/>
                <a:ea typeface="Aptos"/>
              </a:rPr>
              <a:t>15:07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>
            <a:off x="8267760" y="4976640"/>
            <a:ext cx="837720" cy="1947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Login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>
            <a:off x="9258480" y="4976640"/>
            <a:ext cx="952200" cy="1947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normal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A78BF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kicker-16-marker"/>
          <p:cNvSpPr/>
          <p:nvPr/>
        </p:nvSpPr>
        <p:spPr>
          <a:xfrm>
            <a:off x="609480" y="457200"/>
            <a:ext cx="114120" cy="114120"/>
          </a:xfrm>
          <a:prstGeom prst="rect">
            <a:avLst/>
          </a:prstGeom>
          <a:solidFill>
            <a:srgbClr val="A78BF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1" name="kicker-16-label"/>
          <p:cNvSpPr/>
          <p:nvPr/>
        </p:nvSpPr>
        <p:spPr>
          <a:xfrm>
            <a:off x="857160" y="361800"/>
            <a:ext cx="4952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A78BFA"/>
                </a:solidFill>
                <a:effectLst/>
                <a:uFillTx/>
                <a:latin typeface="Aptos"/>
                <a:ea typeface="Aptos"/>
              </a:rPr>
              <a:t>COMPARAISON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"/>
          <p:cNvSpPr/>
          <p:nvPr/>
        </p:nvSpPr>
        <p:spPr>
          <a:xfrm>
            <a:off x="11049120" y="36180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16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>
            <a:off x="609480" y="876240"/>
            <a:ext cx="990576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Même donnée, décisions différentes.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"/>
          <p:cNvSpPr/>
          <p:nvPr/>
        </p:nvSpPr>
        <p:spPr>
          <a:xfrm>
            <a:off x="628560" y="1809720"/>
            <a:ext cx="933408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Un dashboard n'est pas universel : il doit servir son audience.</a:t>
            </a:r>
            <a:endParaRPr lang="fr-F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"/>
          <p:cNvSpPr/>
          <p:nvPr/>
        </p:nvSpPr>
        <p:spPr>
          <a:xfrm>
            <a:off x="819000" y="2571840"/>
            <a:ext cx="4476240" cy="2476080"/>
          </a:xfrm>
          <a:prstGeom prst="rect">
            <a:avLst/>
          </a:prstGeom>
          <a:solidFill>
            <a:srgbClr val="0E1628"/>
          </a:solidFill>
          <a:ln w="12383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6" name=""/>
          <p:cNvSpPr/>
          <p:nvPr/>
        </p:nvSpPr>
        <p:spPr>
          <a:xfrm>
            <a:off x="1123920" y="2914560"/>
            <a:ext cx="20952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Développeur</a:t>
            </a:r>
            <a:endParaRPr lang="fr-FR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"/>
          <p:cNvSpPr/>
          <p:nvPr/>
        </p:nvSpPr>
        <p:spPr>
          <a:xfrm>
            <a:off x="1143000" y="356220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>
            <a:off x="1352520" y="3486240"/>
            <a:ext cx="321912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identifier la cause probable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"/>
          <p:cNvSpPr/>
          <p:nvPr/>
        </p:nvSpPr>
        <p:spPr>
          <a:xfrm>
            <a:off x="1143000" y="392436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>
            <a:off x="1352520" y="3848040"/>
            <a:ext cx="321912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filtrer par service, route, request_id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>
            <a:off x="1143000" y="428616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>
            <a:off x="1352520" y="4210200"/>
            <a:ext cx="321912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lire les derniers messages erreur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"/>
          <p:cNvSpPr/>
          <p:nvPr/>
        </p:nvSpPr>
        <p:spPr>
          <a:xfrm>
            <a:off x="1143000" y="464832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"/>
          <p:cNvSpPr/>
          <p:nvPr/>
        </p:nvSpPr>
        <p:spPr>
          <a:xfrm>
            <a:off x="1352520" y="4572000"/>
            <a:ext cx="321912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comparer avant/après déploiement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>
            <a:off x="6343560" y="2571840"/>
            <a:ext cx="4476240" cy="2476080"/>
          </a:xfrm>
          <a:prstGeom prst="rect">
            <a:avLst/>
          </a:prstGeom>
          <a:solidFill>
            <a:srgbClr val="131126"/>
          </a:solidFill>
          <a:ln w="12383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6" name=""/>
          <p:cNvSpPr/>
          <p:nvPr/>
        </p:nvSpPr>
        <p:spPr>
          <a:xfrm>
            <a:off x="6648480" y="2914560"/>
            <a:ext cx="20952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50" b="1" u="none" strike="noStrike">
                <a:solidFill>
                  <a:srgbClr val="A78BFA"/>
                </a:solidFill>
                <a:effectLst/>
                <a:uFillTx/>
                <a:latin typeface="Aptos"/>
                <a:ea typeface="Aptos"/>
              </a:rPr>
              <a:t>Support</a:t>
            </a:r>
            <a:endParaRPr lang="fr-FR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7" name=""/>
          <p:cNvSpPr/>
          <p:nvPr/>
        </p:nvSpPr>
        <p:spPr>
          <a:xfrm>
            <a:off x="6667560" y="356220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"/>
          <p:cNvSpPr/>
          <p:nvPr/>
        </p:nvSpPr>
        <p:spPr>
          <a:xfrm>
            <a:off x="6877080" y="3486240"/>
            <a:ext cx="331452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qualifier l'impact utilisateur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>
            <a:off x="6667560" y="392436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"/>
          <p:cNvSpPr/>
          <p:nvPr/>
        </p:nvSpPr>
        <p:spPr>
          <a:xfrm>
            <a:off x="6877080" y="3848040"/>
            <a:ext cx="331452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suivre les incidents récents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>
            <a:off x="6667560" y="428616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"/>
          <p:cNvSpPr/>
          <p:nvPr/>
        </p:nvSpPr>
        <p:spPr>
          <a:xfrm>
            <a:off x="6877080" y="4210200"/>
            <a:ext cx="331452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filtrer par fonctionnalité ou client anonymisé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"/>
          <p:cNvSpPr/>
          <p:nvPr/>
        </p:nvSpPr>
        <p:spPr>
          <a:xfrm>
            <a:off x="6667560" y="464832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"/>
          <p:cNvSpPr/>
          <p:nvPr/>
        </p:nvSpPr>
        <p:spPr>
          <a:xfrm>
            <a:off x="6877080" y="4572000"/>
            <a:ext cx="331452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répondre sans modifier l'ingestion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7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kicker-17-marker"/>
          <p:cNvSpPr/>
          <p:nvPr/>
        </p:nvSpPr>
        <p:spPr>
          <a:xfrm>
            <a:off x="609480" y="457200"/>
            <a:ext cx="114120" cy="114120"/>
          </a:xfrm>
          <a:prstGeom prst="rect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kicker-17-label"/>
          <p:cNvSpPr/>
          <p:nvPr/>
        </p:nvSpPr>
        <p:spPr>
          <a:xfrm>
            <a:off x="857160" y="361800"/>
            <a:ext cx="4952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2C55E"/>
                </a:solidFill>
                <a:effectLst/>
                <a:uFillTx/>
                <a:latin typeface="Aptos"/>
                <a:ea typeface="Aptos"/>
              </a:rPr>
              <a:t>RESPONSABILITÉS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"/>
          <p:cNvSpPr/>
          <p:nvPr/>
        </p:nvSpPr>
        <p:spPr>
          <a:xfrm>
            <a:off x="11049120" y="36180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17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"/>
          <p:cNvSpPr/>
          <p:nvPr/>
        </p:nvSpPr>
        <p:spPr>
          <a:xfrm>
            <a:off x="609480" y="876240"/>
            <a:ext cx="990576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Les droits Kibana séparent exploitation et ingestion.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"/>
          <p:cNvSpPr/>
          <p:nvPr/>
        </p:nvSpPr>
        <p:spPr>
          <a:xfrm>
            <a:off x="628560" y="1809720"/>
            <a:ext cx="933408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On peut donner de l'autonomie au support sans lui permettre de casser la collecte.</a:t>
            </a:r>
            <a:endParaRPr lang="fr-F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"/>
          <p:cNvSpPr/>
          <p:nvPr/>
        </p:nvSpPr>
        <p:spPr>
          <a:xfrm>
            <a:off x="1371600" y="2857680"/>
            <a:ext cx="1985760" cy="1428480"/>
          </a:xfrm>
          <a:prstGeom prst="rect">
            <a:avLst/>
          </a:prstGeom>
          <a:solidFill>
            <a:srgbClr val="111827"/>
          </a:solidFill>
          <a:ln w="13335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"/>
          <p:cNvSpPr/>
          <p:nvPr/>
        </p:nvSpPr>
        <p:spPr>
          <a:xfrm>
            <a:off x="1523880" y="3029040"/>
            <a:ext cx="168084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Ingestion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"/>
          <p:cNvSpPr/>
          <p:nvPr/>
        </p:nvSpPr>
        <p:spPr>
          <a:xfrm>
            <a:off x="1523880" y="3409920"/>
            <a:ext cx="16808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Filebeat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Logstash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mapping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"/>
          <p:cNvSpPr/>
          <p:nvPr/>
        </p:nvSpPr>
        <p:spPr>
          <a:xfrm>
            <a:off x="3395520" y="3419640"/>
            <a:ext cx="17100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"/>
          <p:cNvSpPr/>
          <p:nvPr/>
        </p:nvSpPr>
        <p:spPr>
          <a:xfrm>
            <a:off x="3567240" y="2857680"/>
            <a:ext cx="1985760" cy="1428480"/>
          </a:xfrm>
          <a:prstGeom prst="rect">
            <a:avLst/>
          </a:prstGeom>
          <a:solidFill>
            <a:srgbClr val="111827"/>
          </a:solidFill>
          <a:ln w="13335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9" name=""/>
          <p:cNvSpPr/>
          <p:nvPr/>
        </p:nvSpPr>
        <p:spPr>
          <a:xfrm>
            <a:off x="3719520" y="3029040"/>
            <a:ext cx="168084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Données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"/>
          <p:cNvSpPr/>
          <p:nvPr/>
        </p:nvSpPr>
        <p:spPr>
          <a:xfrm>
            <a:off x="3719520" y="3409920"/>
            <a:ext cx="16808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indices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rétention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qualité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1" name=""/>
          <p:cNvSpPr/>
          <p:nvPr/>
        </p:nvSpPr>
        <p:spPr>
          <a:xfrm>
            <a:off x="5591160" y="3419640"/>
            <a:ext cx="17100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"/>
          <p:cNvSpPr/>
          <p:nvPr/>
        </p:nvSpPr>
        <p:spPr>
          <a:xfrm>
            <a:off x="5762520" y="2857680"/>
            <a:ext cx="1985760" cy="1428480"/>
          </a:xfrm>
          <a:prstGeom prst="rect">
            <a:avLst/>
          </a:prstGeom>
          <a:solidFill>
            <a:srgbClr val="111827"/>
          </a:solidFill>
          <a:ln w="1333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"/>
          <p:cNvSpPr/>
          <p:nvPr/>
        </p:nvSpPr>
        <p:spPr>
          <a:xfrm>
            <a:off x="5915160" y="3029040"/>
            <a:ext cx="168084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A78BFA"/>
                </a:solidFill>
                <a:effectLst/>
                <a:uFillTx/>
                <a:latin typeface="Aptos"/>
                <a:ea typeface="Aptos"/>
              </a:rPr>
              <a:t>Vues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"/>
          <p:cNvSpPr/>
          <p:nvPr/>
        </p:nvSpPr>
        <p:spPr>
          <a:xfrm>
            <a:off x="5915160" y="3409920"/>
            <a:ext cx="16808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data views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saved searches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dashboards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"/>
          <p:cNvSpPr/>
          <p:nvPr/>
        </p:nvSpPr>
        <p:spPr>
          <a:xfrm>
            <a:off x="7786800" y="3419640"/>
            <a:ext cx="17100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"/>
          <p:cNvSpPr/>
          <p:nvPr/>
        </p:nvSpPr>
        <p:spPr>
          <a:xfrm>
            <a:off x="7958160" y="2857680"/>
            <a:ext cx="1985760" cy="1428480"/>
          </a:xfrm>
          <a:prstGeom prst="rect">
            <a:avLst/>
          </a:prstGeom>
          <a:solidFill>
            <a:srgbClr val="111827"/>
          </a:solidFill>
          <a:ln w="13335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"/>
          <p:cNvSpPr/>
          <p:nvPr/>
        </p:nvSpPr>
        <p:spPr>
          <a:xfrm>
            <a:off x="8110440" y="3029040"/>
            <a:ext cx="168084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C55E"/>
                </a:solidFill>
                <a:effectLst/>
                <a:uFillTx/>
                <a:latin typeface="Aptos"/>
                <a:ea typeface="Aptos"/>
              </a:rPr>
              <a:t>Utilisateurs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"/>
          <p:cNvSpPr/>
          <p:nvPr/>
        </p:nvSpPr>
        <p:spPr>
          <a:xfrm>
            <a:off x="8110440" y="3409920"/>
            <a:ext cx="16808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dev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support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lecture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"/>
          <p:cNvSpPr/>
          <p:nvPr/>
        </p:nvSpPr>
        <p:spPr>
          <a:xfrm>
            <a:off x="2038320" y="4915080"/>
            <a:ext cx="66240" cy="66240"/>
          </a:xfrm>
          <a:prstGeom prst="rect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"/>
          <p:cNvSpPr/>
          <p:nvPr/>
        </p:nvSpPr>
        <p:spPr>
          <a:xfrm>
            <a:off x="2247840" y="4838760"/>
            <a:ext cx="70290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Le support peut filtrer, lire et exporter une vue.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"/>
          <p:cNvSpPr/>
          <p:nvPr/>
        </p:nvSpPr>
        <p:spPr>
          <a:xfrm>
            <a:off x="2038320" y="527688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"/>
          <p:cNvSpPr/>
          <p:nvPr/>
        </p:nvSpPr>
        <p:spPr>
          <a:xfrm>
            <a:off x="2247840" y="5200560"/>
            <a:ext cx="70290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Les développeurs gardent la responsabilité des logs produits par le code.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"/>
          <p:cNvSpPr/>
          <p:nvPr/>
        </p:nvSpPr>
        <p:spPr>
          <a:xfrm>
            <a:off x="2038320" y="5638680"/>
            <a:ext cx="66240" cy="6624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"/>
          <p:cNvSpPr/>
          <p:nvPr/>
        </p:nvSpPr>
        <p:spPr>
          <a:xfrm>
            <a:off x="2247840" y="5562720"/>
            <a:ext cx="7029000" cy="3236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L'équipe plateforme garde les pipelines, index et politiques de rétention.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kicker-18-marker"/>
          <p:cNvSpPr/>
          <p:nvPr/>
        </p:nvSpPr>
        <p:spPr>
          <a:xfrm>
            <a:off x="609480" y="457200"/>
            <a:ext cx="114120" cy="11412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kicker-18-label"/>
          <p:cNvSpPr/>
          <p:nvPr/>
        </p:nvSpPr>
        <p:spPr>
          <a:xfrm>
            <a:off x="857160" y="361800"/>
            <a:ext cx="4952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TP ATTENDU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"/>
          <p:cNvSpPr/>
          <p:nvPr/>
        </p:nvSpPr>
        <p:spPr>
          <a:xfrm>
            <a:off x="11049120" y="36180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18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"/>
          <p:cNvSpPr/>
          <p:nvPr/>
        </p:nvSpPr>
        <p:spPr>
          <a:xfrm>
            <a:off x="609480" y="876240"/>
            <a:ext cx="990576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Le TP valide une chaîne complète, pas une capture Kibana.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3" name=""/>
          <p:cNvSpPr/>
          <p:nvPr/>
        </p:nvSpPr>
        <p:spPr>
          <a:xfrm>
            <a:off x="628560" y="1809720"/>
            <a:ext cx="933408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Les fichiers rendus doivent permettre de reconstruire la stack sur un cluster kind vierge.</a:t>
            </a:r>
            <a:endParaRPr lang="fr-F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"/>
          <p:cNvSpPr/>
          <p:nvPr/>
        </p:nvSpPr>
        <p:spPr>
          <a:xfrm>
            <a:off x="1295280" y="2895480"/>
            <a:ext cx="1985760" cy="1428480"/>
          </a:xfrm>
          <a:prstGeom prst="rect">
            <a:avLst/>
          </a:prstGeom>
          <a:solidFill>
            <a:srgbClr val="111827"/>
          </a:solidFill>
          <a:ln w="13335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"/>
          <p:cNvSpPr/>
          <p:nvPr/>
        </p:nvSpPr>
        <p:spPr>
          <a:xfrm>
            <a:off x="1447920" y="3067200"/>
            <a:ext cx="168084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manifests/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"/>
          <p:cNvSpPr/>
          <p:nvPr/>
        </p:nvSpPr>
        <p:spPr>
          <a:xfrm>
            <a:off x="1447920" y="3448080"/>
            <a:ext cx="16808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ELK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Filebeat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app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"/>
          <p:cNvSpPr/>
          <p:nvPr/>
        </p:nvSpPr>
        <p:spPr>
          <a:xfrm>
            <a:off x="3319560" y="3457440"/>
            <a:ext cx="17100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"/>
          <p:cNvSpPr/>
          <p:nvPr/>
        </p:nvSpPr>
        <p:spPr>
          <a:xfrm>
            <a:off x="3490920" y="2895480"/>
            <a:ext cx="1985760" cy="1428480"/>
          </a:xfrm>
          <a:prstGeom prst="rect">
            <a:avLst/>
          </a:prstGeom>
          <a:solidFill>
            <a:srgbClr val="111827"/>
          </a:solidFill>
          <a:ln w="13335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"/>
          <p:cNvSpPr/>
          <p:nvPr/>
        </p:nvSpPr>
        <p:spPr>
          <a:xfrm>
            <a:off x="3643200" y="3067200"/>
            <a:ext cx="168084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C55E"/>
                </a:solidFill>
                <a:effectLst/>
                <a:uFillTx/>
                <a:latin typeface="Aptos"/>
                <a:ea typeface="Aptos"/>
              </a:rPr>
              <a:t>app/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"/>
          <p:cNvSpPr/>
          <p:nvPr/>
        </p:nvSpPr>
        <p:spPr>
          <a:xfrm>
            <a:off x="3643200" y="3448080"/>
            <a:ext cx="16808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HTTP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logs JSON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2xx 4xx 5xx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"/>
          <p:cNvSpPr/>
          <p:nvPr/>
        </p:nvSpPr>
        <p:spPr>
          <a:xfrm>
            <a:off x="5514840" y="3457440"/>
            <a:ext cx="17100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"/>
          <p:cNvSpPr/>
          <p:nvPr/>
        </p:nvSpPr>
        <p:spPr>
          <a:xfrm>
            <a:off x="5686560" y="2895480"/>
            <a:ext cx="1985760" cy="1428480"/>
          </a:xfrm>
          <a:prstGeom prst="rect">
            <a:avLst/>
          </a:prstGeom>
          <a:solidFill>
            <a:srgbClr val="111827"/>
          </a:solidFill>
          <a:ln w="1333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"/>
          <p:cNvSpPr/>
          <p:nvPr/>
        </p:nvSpPr>
        <p:spPr>
          <a:xfrm>
            <a:off x="5838840" y="3067200"/>
            <a:ext cx="168084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A78BFA"/>
                </a:solidFill>
                <a:effectLst/>
                <a:uFillTx/>
                <a:latin typeface="Aptos"/>
                <a:ea typeface="Aptos"/>
              </a:rPr>
              <a:t>kibana/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"/>
          <p:cNvSpPr/>
          <p:nvPr/>
        </p:nvSpPr>
        <p:spPr>
          <a:xfrm>
            <a:off x="5838840" y="3448080"/>
            <a:ext cx="16808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exports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saved objects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dashboards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"/>
          <p:cNvSpPr/>
          <p:nvPr/>
        </p:nvSpPr>
        <p:spPr>
          <a:xfrm>
            <a:off x="7710480" y="3457440"/>
            <a:ext cx="17100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"/>
          <p:cNvSpPr/>
          <p:nvPr/>
        </p:nvSpPr>
        <p:spPr>
          <a:xfrm>
            <a:off x="7881840" y="2895480"/>
            <a:ext cx="1985760" cy="1428480"/>
          </a:xfrm>
          <a:prstGeom prst="rect">
            <a:avLst/>
          </a:prstGeom>
          <a:solidFill>
            <a:srgbClr val="111827"/>
          </a:solidFill>
          <a:ln w="13335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"/>
          <p:cNvSpPr/>
          <p:nvPr/>
        </p:nvSpPr>
        <p:spPr>
          <a:xfrm>
            <a:off x="8034480" y="3067200"/>
            <a:ext cx="168084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README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"/>
          <p:cNvSpPr/>
          <p:nvPr/>
        </p:nvSpPr>
        <p:spPr>
          <a:xfrm>
            <a:off x="8034480" y="3448080"/>
            <a:ext cx="16808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déploiement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génération logs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requêtes utiles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"/>
          <p:cNvSpPr/>
          <p:nvPr/>
        </p:nvSpPr>
        <p:spPr>
          <a:xfrm>
            <a:off x="2305080" y="4800600"/>
            <a:ext cx="6476760" cy="685440"/>
          </a:xfrm>
          <a:prstGeom prst="rect">
            <a:avLst/>
          </a:prstGeom>
          <a:solidFill>
            <a:srgbClr val="0E1628"/>
          </a:solidFill>
          <a:ln w="12383">
            <a:solidFill>
              <a:srgbClr val="33415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"/>
          <p:cNvSpPr/>
          <p:nvPr/>
        </p:nvSpPr>
        <p:spPr>
          <a:xfrm>
            <a:off x="2610000" y="5010120"/>
            <a:ext cx="590508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Critère simple : une fois du trafic généré, Kibana doit permettre de retrouver, compter et visualiser les erreurs par famille de statut.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5" name="kicker-19-marker"/>
          <p:cNvSpPr/>
          <p:nvPr/>
        </p:nvSpPr>
        <p:spPr>
          <a:xfrm>
            <a:off x="609480" y="457200"/>
            <a:ext cx="114120" cy="11412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kicker-19-label"/>
          <p:cNvSpPr/>
          <p:nvPr/>
        </p:nvSpPr>
        <p:spPr>
          <a:xfrm>
            <a:off x="857160" y="361800"/>
            <a:ext cx="4952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CORRECTION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"/>
          <p:cNvSpPr/>
          <p:nvPr/>
        </p:nvSpPr>
        <p:spPr>
          <a:xfrm>
            <a:off x="11049120" y="36180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19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"/>
          <p:cNvSpPr/>
          <p:nvPr/>
        </p:nvSpPr>
        <p:spPr>
          <a:xfrm>
            <a:off x="609480" y="876240"/>
            <a:ext cx="990576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La baseline enseignant fixe les composants et les images.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"/>
          <p:cNvSpPr/>
          <p:nvPr/>
        </p:nvSpPr>
        <p:spPr>
          <a:xfrm>
            <a:off x="628560" y="1809720"/>
            <a:ext cx="933408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Elle sert de référence de correction, pas de support à distribuer tel quel.</a:t>
            </a:r>
            <a:endParaRPr lang="fr-F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"/>
          <p:cNvSpPr/>
          <p:nvPr/>
        </p:nvSpPr>
        <p:spPr>
          <a:xfrm>
            <a:off x="876240" y="2495520"/>
            <a:ext cx="9810360" cy="1116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"/>
          <p:cNvSpPr/>
          <p:nvPr/>
        </p:nvSpPr>
        <p:spPr>
          <a:xfrm>
            <a:off x="876240" y="5524560"/>
            <a:ext cx="9810360" cy="1116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3480" rIns="90000" bIns="-3348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"/>
          <p:cNvSpPr/>
          <p:nvPr/>
        </p:nvSpPr>
        <p:spPr>
          <a:xfrm>
            <a:off x="876240" y="2495520"/>
            <a:ext cx="11160" cy="302868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"/>
          <p:cNvSpPr/>
          <p:nvPr/>
        </p:nvSpPr>
        <p:spPr>
          <a:xfrm>
            <a:off x="10686960" y="2495520"/>
            <a:ext cx="11160" cy="302868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4" name=""/>
          <p:cNvSpPr/>
          <p:nvPr/>
        </p:nvSpPr>
        <p:spPr>
          <a:xfrm>
            <a:off x="5193000" y="2495520"/>
            <a:ext cx="9000" cy="302868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"/>
          <p:cNvSpPr/>
          <p:nvPr/>
        </p:nvSpPr>
        <p:spPr>
          <a:xfrm>
            <a:off x="7743960" y="2495520"/>
            <a:ext cx="9000" cy="302868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"/>
          <p:cNvSpPr/>
          <p:nvPr/>
        </p:nvSpPr>
        <p:spPr>
          <a:xfrm>
            <a:off x="990720" y="2562120"/>
            <a:ext cx="3924000" cy="409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Composant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"/>
          <p:cNvSpPr/>
          <p:nvPr/>
        </p:nvSpPr>
        <p:spPr>
          <a:xfrm>
            <a:off x="5389200" y="2562120"/>
            <a:ext cx="2157840" cy="409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Objet K8s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8" name=""/>
          <p:cNvSpPr/>
          <p:nvPr/>
        </p:nvSpPr>
        <p:spPr>
          <a:xfrm>
            <a:off x="7940160" y="2562120"/>
            <a:ext cx="2452320" cy="409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Image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9" name=""/>
          <p:cNvSpPr/>
          <p:nvPr/>
        </p:nvSpPr>
        <p:spPr>
          <a:xfrm>
            <a:off x="876240" y="3000240"/>
            <a:ext cx="981036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"/>
          <p:cNvSpPr/>
          <p:nvPr/>
        </p:nvSpPr>
        <p:spPr>
          <a:xfrm>
            <a:off x="990720" y="3067200"/>
            <a:ext cx="3924000" cy="409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EF4444"/>
                </a:solidFill>
                <a:effectLst/>
                <a:uFillTx/>
                <a:latin typeface="Aptos"/>
                <a:ea typeface="Aptos"/>
              </a:rPr>
              <a:t>Elasticsearch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"/>
          <p:cNvSpPr/>
          <p:nvPr/>
        </p:nvSpPr>
        <p:spPr>
          <a:xfrm>
            <a:off x="5389200" y="3067200"/>
            <a:ext cx="2157840" cy="409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Deployment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"/>
          <p:cNvSpPr/>
          <p:nvPr/>
        </p:nvSpPr>
        <p:spPr>
          <a:xfrm>
            <a:off x="7940160" y="3067200"/>
            <a:ext cx="2452320" cy="409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elasticsearch:8.19.16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"/>
          <p:cNvSpPr/>
          <p:nvPr/>
        </p:nvSpPr>
        <p:spPr>
          <a:xfrm>
            <a:off x="876240" y="3505320"/>
            <a:ext cx="981036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4" name=""/>
          <p:cNvSpPr/>
          <p:nvPr/>
        </p:nvSpPr>
        <p:spPr>
          <a:xfrm>
            <a:off x="990720" y="3571920"/>
            <a:ext cx="3924000" cy="409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A78BFA"/>
                </a:solidFill>
                <a:effectLst/>
                <a:uFillTx/>
                <a:latin typeface="Aptos"/>
                <a:ea typeface="Aptos"/>
              </a:rPr>
              <a:t>Kibana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5" name=""/>
          <p:cNvSpPr/>
          <p:nvPr/>
        </p:nvSpPr>
        <p:spPr>
          <a:xfrm>
            <a:off x="5389200" y="3571920"/>
            <a:ext cx="2157840" cy="409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Deployment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"/>
          <p:cNvSpPr/>
          <p:nvPr/>
        </p:nvSpPr>
        <p:spPr>
          <a:xfrm>
            <a:off x="7940160" y="3571920"/>
            <a:ext cx="2452320" cy="409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kibana:8.19.16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"/>
          <p:cNvSpPr/>
          <p:nvPr/>
        </p:nvSpPr>
        <p:spPr>
          <a:xfrm>
            <a:off x="876240" y="4010040"/>
            <a:ext cx="981036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"/>
          <p:cNvSpPr/>
          <p:nvPr/>
        </p:nvSpPr>
        <p:spPr>
          <a:xfrm>
            <a:off x="990720" y="4076640"/>
            <a:ext cx="3924000" cy="409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Logstash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9" name=""/>
          <p:cNvSpPr/>
          <p:nvPr/>
        </p:nvSpPr>
        <p:spPr>
          <a:xfrm>
            <a:off x="5389200" y="4076640"/>
            <a:ext cx="2157840" cy="409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Deployment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"/>
          <p:cNvSpPr/>
          <p:nvPr/>
        </p:nvSpPr>
        <p:spPr>
          <a:xfrm>
            <a:off x="7940160" y="4076640"/>
            <a:ext cx="2452320" cy="409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logstash:8.19.16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"/>
          <p:cNvSpPr/>
          <p:nvPr/>
        </p:nvSpPr>
        <p:spPr>
          <a:xfrm>
            <a:off x="876240" y="4514760"/>
            <a:ext cx="981036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"/>
          <p:cNvSpPr/>
          <p:nvPr/>
        </p:nvSpPr>
        <p:spPr>
          <a:xfrm>
            <a:off x="990720" y="4581360"/>
            <a:ext cx="3924000" cy="409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Filebeat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3" name=""/>
          <p:cNvSpPr/>
          <p:nvPr/>
        </p:nvSpPr>
        <p:spPr>
          <a:xfrm>
            <a:off x="5389200" y="4581360"/>
            <a:ext cx="2157840" cy="409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DaemonSet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"/>
          <p:cNvSpPr/>
          <p:nvPr/>
        </p:nvSpPr>
        <p:spPr>
          <a:xfrm>
            <a:off x="7940160" y="4581360"/>
            <a:ext cx="2452320" cy="409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filebeat:8.19.16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"/>
          <p:cNvSpPr/>
          <p:nvPr/>
        </p:nvSpPr>
        <p:spPr>
          <a:xfrm>
            <a:off x="876240" y="5019840"/>
            <a:ext cx="9810360" cy="9000"/>
          </a:xfrm>
          <a:prstGeom prst="rect">
            <a:avLst/>
          </a:prstGeom>
          <a:solidFill>
            <a:srgbClr val="1F2A3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"/>
          <p:cNvSpPr/>
          <p:nvPr/>
        </p:nvSpPr>
        <p:spPr>
          <a:xfrm>
            <a:off x="990720" y="5086440"/>
            <a:ext cx="3924000" cy="409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22C55E"/>
                </a:solidFill>
                <a:effectLst/>
                <a:uFillTx/>
                <a:latin typeface="Aptos"/>
                <a:ea typeface="Aptos"/>
              </a:rPr>
              <a:t>App demo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"/>
          <p:cNvSpPr/>
          <p:nvPr/>
        </p:nvSpPr>
        <p:spPr>
          <a:xfrm>
            <a:off x="5389200" y="5086440"/>
            <a:ext cx="2157840" cy="409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Deployment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"/>
          <p:cNvSpPr/>
          <p:nvPr/>
        </p:nvSpPr>
        <p:spPr>
          <a:xfrm>
            <a:off x="7940160" y="5086440"/>
            <a:ext cx="2452320" cy="4093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elk-demo-app:1.0.0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EF444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kicker-20-marker"/>
          <p:cNvSpPr/>
          <p:nvPr/>
        </p:nvSpPr>
        <p:spPr>
          <a:xfrm>
            <a:off x="609480" y="457200"/>
            <a:ext cx="114120" cy="114120"/>
          </a:xfrm>
          <a:prstGeom prst="rect">
            <a:avLst/>
          </a:prstGeom>
          <a:solidFill>
            <a:srgbClr val="EF4444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kicker-20-label"/>
          <p:cNvSpPr/>
          <p:nvPr/>
        </p:nvSpPr>
        <p:spPr>
          <a:xfrm>
            <a:off x="857160" y="361800"/>
            <a:ext cx="4952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F4444"/>
                </a:solidFill>
                <a:effectLst/>
                <a:uFillTx/>
                <a:latin typeface="Aptos"/>
                <a:ea typeface="Aptos"/>
              </a:rPr>
              <a:t>LIMITES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"/>
          <p:cNvSpPr/>
          <p:nvPr/>
        </p:nvSpPr>
        <p:spPr>
          <a:xfrm>
            <a:off x="11049120" y="36180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20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"/>
          <p:cNvSpPr/>
          <p:nvPr/>
        </p:nvSpPr>
        <p:spPr>
          <a:xfrm>
            <a:off x="609480" y="876240"/>
            <a:ext cx="990576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Les logs deviennent dangereux quand on ignore volume, coût et données sensibles.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"/>
          <p:cNvSpPr/>
          <p:nvPr/>
        </p:nvSpPr>
        <p:spPr>
          <a:xfrm>
            <a:off x="628560" y="1809720"/>
            <a:ext cx="933408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L'observabilité n'autorise pas à tout garder, tout indexer, ou tout exposer.</a:t>
            </a:r>
            <a:endParaRPr lang="fr-F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"/>
          <p:cNvSpPr/>
          <p:nvPr/>
        </p:nvSpPr>
        <p:spPr>
          <a:xfrm>
            <a:off x="838080" y="2724120"/>
            <a:ext cx="4190760" cy="990360"/>
          </a:xfrm>
          <a:prstGeom prst="rect">
            <a:avLst/>
          </a:prstGeom>
          <a:solidFill>
            <a:srgbClr val="111827"/>
          </a:solidFill>
          <a:ln w="12383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"/>
          <p:cNvSpPr/>
          <p:nvPr/>
        </p:nvSpPr>
        <p:spPr>
          <a:xfrm>
            <a:off x="1085760" y="2933640"/>
            <a:ext cx="209520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7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Volume</a:t>
            </a:r>
            <a:endParaRPr lang="fr-FR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"/>
          <p:cNvSpPr/>
          <p:nvPr/>
        </p:nvSpPr>
        <p:spPr>
          <a:xfrm>
            <a:off x="1085760" y="3295800"/>
            <a:ext cx="34286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trop de debug, coût et bruit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"/>
          <p:cNvSpPr/>
          <p:nvPr/>
        </p:nvSpPr>
        <p:spPr>
          <a:xfrm>
            <a:off x="5791320" y="2724120"/>
            <a:ext cx="4190760" cy="990360"/>
          </a:xfrm>
          <a:prstGeom prst="rect">
            <a:avLst/>
          </a:prstGeom>
          <a:solidFill>
            <a:srgbClr val="111827"/>
          </a:solidFill>
          <a:ln w="12383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"/>
          <p:cNvSpPr/>
          <p:nvPr/>
        </p:nvSpPr>
        <p:spPr>
          <a:xfrm>
            <a:off x="6039000" y="2933640"/>
            <a:ext cx="209520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7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Rétention</a:t>
            </a:r>
            <a:endParaRPr lang="fr-FR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3" name=""/>
          <p:cNvSpPr/>
          <p:nvPr/>
        </p:nvSpPr>
        <p:spPr>
          <a:xfrm>
            <a:off x="6039000" y="3295800"/>
            <a:ext cx="34286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garder utile, purger le reste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4" name=""/>
          <p:cNvSpPr/>
          <p:nvPr/>
        </p:nvSpPr>
        <p:spPr>
          <a:xfrm>
            <a:off x="838080" y="4076640"/>
            <a:ext cx="4190760" cy="990360"/>
          </a:xfrm>
          <a:prstGeom prst="rect">
            <a:avLst/>
          </a:prstGeom>
          <a:solidFill>
            <a:srgbClr val="111827"/>
          </a:solidFill>
          <a:ln w="12383">
            <a:solidFill>
              <a:srgbClr val="EF444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"/>
          <p:cNvSpPr/>
          <p:nvPr/>
        </p:nvSpPr>
        <p:spPr>
          <a:xfrm>
            <a:off x="1085760" y="4286160"/>
            <a:ext cx="209520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70" b="1" u="none" strike="noStrike">
                <a:solidFill>
                  <a:srgbClr val="EF4444"/>
                </a:solidFill>
                <a:effectLst/>
                <a:uFillTx/>
                <a:latin typeface="Aptos"/>
                <a:ea typeface="Aptos"/>
              </a:rPr>
              <a:t>Secrets</a:t>
            </a:r>
            <a:endParaRPr lang="fr-FR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6" name=""/>
          <p:cNvSpPr/>
          <p:nvPr/>
        </p:nvSpPr>
        <p:spPr>
          <a:xfrm>
            <a:off x="1085760" y="4648320"/>
            <a:ext cx="34286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tokens et mots de passe interdits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7" name=""/>
          <p:cNvSpPr/>
          <p:nvPr/>
        </p:nvSpPr>
        <p:spPr>
          <a:xfrm>
            <a:off x="5791320" y="4076640"/>
            <a:ext cx="4190760" cy="990360"/>
          </a:xfrm>
          <a:prstGeom prst="rect">
            <a:avLst/>
          </a:prstGeom>
          <a:solidFill>
            <a:srgbClr val="111827"/>
          </a:solidFill>
          <a:ln w="12383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8" name=""/>
          <p:cNvSpPr/>
          <p:nvPr/>
        </p:nvSpPr>
        <p:spPr>
          <a:xfrm>
            <a:off x="6039000" y="4286160"/>
            <a:ext cx="2095200" cy="2664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70" b="1" u="none" strike="noStrike">
                <a:solidFill>
                  <a:srgbClr val="A78BFA"/>
                </a:solidFill>
                <a:effectLst/>
                <a:uFillTx/>
                <a:latin typeface="Aptos"/>
                <a:ea typeface="Aptos"/>
              </a:rPr>
              <a:t>Données perso</a:t>
            </a:r>
            <a:endParaRPr lang="fr-FR" sz="18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9" name=""/>
          <p:cNvSpPr/>
          <p:nvPr/>
        </p:nvSpPr>
        <p:spPr>
          <a:xfrm>
            <a:off x="6039000" y="4648320"/>
            <a:ext cx="3428640" cy="2282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anonymiser, minimiser, tracer l'accès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kicker-21-marker"/>
          <p:cNvSpPr/>
          <p:nvPr/>
        </p:nvSpPr>
        <p:spPr>
          <a:xfrm>
            <a:off x="609480" y="457200"/>
            <a:ext cx="114120" cy="114120"/>
          </a:xfrm>
          <a:prstGeom prst="rect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kicker-21-label"/>
          <p:cNvSpPr/>
          <p:nvPr/>
        </p:nvSpPr>
        <p:spPr>
          <a:xfrm>
            <a:off x="857160" y="361800"/>
            <a:ext cx="49525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2C55E"/>
                </a:solidFill>
                <a:effectLst/>
                <a:uFillTx/>
                <a:latin typeface="Aptos"/>
                <a:ea typeface="Aptos"/>
              </a:rPr>
              <a:t>CORRÉLATION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6" name=""/>
          <p:cNvSpPr/>
          <p:nvPr/>
        </p:nvSpPr>
        <p:spPr>
          <a:xfrm>
            <a:off x="11049120" y="361800"/>
            <a:ext cx="51408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8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21</a:t>
            </a:r>
            <a:endParaRPr lang="fr-FR" sz="9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"/>
          <p:cNvSpPr/>
          <p:nvPr/>
        </p:nvSpPr>
        <p:spPr>
          <a:xfrm>
            <a:off x="609480" y="876240"/>
            <a:ext cx="9905760" cy="8758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La corrélation relie le signal, l'événement et le parcours.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"/>
          <p:cNvSpPr/>
          <p:nvPr/>
        </p:nvSpPr>
        <p:spPr>
          <a:xfrm>
            <a:off x="628560" y="1809720"/>
            <a:ext cx="9334080" cy="4568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Le request_id prépare naturellement le passage vers traces et APM.</a:t>
            </a:r>
            <a:endParaRPr lang="fr-F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9" name=""/>
          <p:cNvSpPr/>
          <p:nvPr/>
        </p:nvSpPr>
        <p:spPr>
          <a:xfrm>
            <a:off x="1333440" y="2952720"/>
            <a:ext cx="1985760" cy="1428480"/>
          </a:xfrm>
          <a:prstGeom prst="rect">
            <a:avLst/>
          </a:prstGeom>
          <a:solidFill>
            <a:srgbClr val="111827"/>
          </a:solidFill>
          <a:ln w="13335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0" name=""/>
          <p:cNvSpPr/>
          <p:nvPr/>
        </p:nvSpPr>
        <p:spPr>
          <a:xfrm>
            <a:off x="1486080" y="3124080"/>
            <a:ext cx="168084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2C55E"/>
                </a:solidFill>
                <a:effectLst/>
                <a:uFillTx/>
                <a:latin typeface="Aptos"/>
                <a:ea typeface="Aptos"/>
              </a:rPr>
              <a:t>Alerte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1" name=""/>
          <p:cNvSpPr/>
          <p:nvPr/>
        </p:nvSpPr>
        <p:spPr>
          <a:xfrm>
            <a:off x="1486080" y="3505320"/>
            <a:ext cx="16808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5xx &gt; seuil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Prometheus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2" name=""/>
          <p:cNvSpPr/>
          <p:nvPr/>
        </p:nvSpPr>
        <p:spPr>
          <a:xfrm>
            <a:off x="3357720" y="3514680"/>
            <a:ext cx="17100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"/>
          <p:cNvSpPr/>
          <p:nvPr/>
        </p:nvSpPr>
        <p:spPr>
          <a:xfrm>
            <a:off x="3529080" y="2952720"/>
            <a:ext cx="1985760" cy="1428480"/>
          </a:xfrm>
          <a:prstGeom prst="rect">
            <a:avLst/>
          </a:prstGeom>
          <a:solidFill>
            <a:srgbClr val="111827"/>
          </a:solidFill>
          <a:ln w="13335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4" name=""/>
          <p:cNvSpPr/>
          <p:nvPr/>
        </p:nvSpPr>
        <p:spPr>
          <a:xfrm>
            <a:off x="3681360" y="3124080"/>
            <a:ext cx="168084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Recherche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5" name=""/>
          <p:cNvSpPr/>
          <p:nvPr/>
        </p:nvSpPr>
        <p:spPr>
          <a:xfrm>
            <a:off x="3681360" y="3505320"/>
            <a:ext cx="16808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status_family:5xx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Kibana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6" name=""/>
          <p:cNvSpPr/>
          <p:nvPr/>
        </p:nvSpPr>
        <p:spPr>
          <a:xfrm>
            <a:off x="5553000" y="3514680"/>
            <a:ext cx="17100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"/>
          <p:cNvSpPr/>
          <p:nvPr/>
        </p:nvSpPr>
        <p:spPr>
          <a:xfrm>
            <a:off x="5724360" y="2952720"/>
            <a:ext cx="1985760" cy="1428480"/>
          </a:xfrm>
          <a:prstGeom prst="rect">
            <a:avLst/>
          </a:prstGeom>
          <a:solidFill>
            <a:srgbClr val="111827"/>
          </a:solidFill>
          <a:ln w="13335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8" name=""/>
          <p:cNvSpPr/>
          <p:nvPr/>
        </p:nvSpPr>
        <p:spPr>
          <a:xfrm>
            <a:off x="5877000" y="3124080"/>
            <a:ext cx="168084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59E0B"/>
                </a:solidFill>
                <a:effectLst/>
                <a:uFillTx/>
                <a:latin typeface="Aptos"/>
                <a:ea typeface="Aptos"/>
              </a:rPr>
              <a:t>Contexte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9" name=""/>
          <p:cNvSpPr/>
          <p:nvPr/>
        </p:nvSpPr>
        <p:spPr>
          <a:xfrm>
            <a:off x="5877000" y="3505320"/>
            <a:ext cx="16808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request_id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route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message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"/>
          <p:cNvSpPr/>
          <p:nvPr/>
        </p:nvSpPr>
        <p:spPr>
          <a:xfrm>
            <a:off x="7748640" y="3514680"/>
            <a:ext cx="17100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&gt;</a:t>
            </a:r>
            <a:endParaRPr lang="fr-F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1" name=""/>
          <p:cNvSpPr/>
          <p:nvPr/>
        </p:nvSpPr>
        <p:spPr>
          <a:xfrm>
            <a:off x="7920000" y="2952720"/>
            <a:ext cx="1985760" cy="1428480"/>
          </a:xfrm>
          <a:prstGeom prst="rect">
            <a:avLst/>
          </a:prstGeom>
          <a:solidFill>
            <a:srgbClr val="111827"/>
          </a:solidFill>
          <a:ln w="13335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2" name=""/>
          <p:cNvSpPr/>
          <p:nvPr/>
        </p:nvSpPr>
        <p:spPr>
          <a:xfrm>
            <a:off x="8072280" y="3124080"/>
            <a:ext cx="1680840" cy="285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A78BFA"/>
                </a:solidFill>
                <a:effectLst/>
                <a:uFillTx/>
                <a:latin typeface="Aptos"/>
                <a:ea typeface="Aptos"/>
              </a:rPr>
              <a:t>Trace</a:t>
            </a:r>
            <a:endParaRPr lang="fr-F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"/>
          <p:cNvSpPr/>
          <p:nvPr/>
        </p:nvSpPr>
        <p:spPr>
          <a:xfrm>
            <a:off x="8072280" y="3505320"/>
            <a:ext cx="1680840" cy="6091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service à service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BD5E1"/>
                </a:solidFill>
                <a:effectLst/>
                <a:uFillTx/>
                <a:latin typeface="Aptos"/>
                <a:ea typeface="Aptos"/>
              </a:rPr>
              <a:t>latence étape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"/>
          <p:cNvSpPr/>
          <p:nvPr/>
        </p:nvSpPr>
        <p:spPr>
          <a:xfrm>
            <a:off x="2629080" y="4876920"/>
            <a:ext cx="6190920" cy="609120"/>
          </a:xfrm>
          <a:prstGeom prst="rect">
            <a:avLst/>
          </a:prstGeom>
          <a:solidFill>
            <a:srgbClr val="070B14"/>
          </a:solidFill>
          <a:ln w="12383">
            <a:solidFill>
              <a:srgbClr val="22C55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5" name=""/>
          <p:cNvSpPr/>
          <p:nvPr/>
        </p:nvSpPr>
        <p:spPr>
          <a:xfrm>
            <a:off x="2800440" y="5048280"/>
            <a:ext cx="5847840" cy="342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request_id="req-7fe1" devient le fil rouge entre métrique, log et trace.</a:t>
            </a:r>
            <a:endParaRPr lang="fr-FR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6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0B1120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8" name=""/>
          <p:cNvSpPr/>
          <p:nvPr/>
        </p:nvSpPr>
        <p:spPr>
          <a:xfrm>
            <a:off x="0" y="0"/>
            <a:ext cx="95040" cy="68576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"/>
          <p:cNvSpPr/>
          <p:nvPr/>
        </p:nvSpPr>
        <p:spPr>
          <a:xfrm>
            <a:off x="743040" y="6191280"/>
            <a:ext cx="10667520" cy="14040"/>
          </a:xfrm>
          <a:prstGeom prst="rect">
            <a:avLst/>
          </a:prstGeom>
          <a:solidFill>
            <a:srgbClr val="334155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-30600" rIns="90000" bIns="-30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0" name=""/>
          <p:cNvSpPr/>
          <p:nvPr/>
        </p:nvSpPr>
        <p:spPr>
          <a:xfrm>
            <a:off x="628560" y="552600"/>
            <a:ext cx="4000320" cy="3045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38BDF8"/>
                </a:solidFill>
                <a:effectLst/>
                <a:uFillTx/>
                <a:latin typeface="Aptos"/>
                <a:ea typeface="Aptos"/>
              </a:rPr>
              <a:t>Règle opérationnelle</a:t>
            </a:r>
            <a:endParaRPr lang="fr-FR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1" name=""/>
          <p:cNvSpPr/>
          <p:nvPr/>
        </p:nvSpPr>
        <p:spPr>
          <a:xfrm>
            <a:off x="609480" y="1428840"/>
            <a:ext cx="5810040" cy="142848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5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Prometheus détecte.</a:t>
            </a:r>
            <a:endParaRPr lang="fr-FR" sz="4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50" b="1" u="none" strike="noStrike">
                <a:solidFill>
                  <a:srgbClr val="F8FAFC"/>
                </a:solidFill>
                <a:effectLst/>
                <a:uFillTx/>
                <a:latin typeface="Aptos Display"/>
                <a:ea typeface="Aptos Display"/>
              </a:rPr>
              <a:t>Kibana explique.</a:t>
            </a:r>
            <a:endParaRPr lang="fr-FR" sz="4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2" name=""/>
          <p:cNvSpPr/>
          <p:nvPr/>
        </p:nvSpPr>
        <p:spPr>
          <a:xfrm>
            <a:off x="7238880" y="1295280"/>
            <a:ext cx="3428640" cy="2495160"/>
          </a:xfrm>
          <a:prstGeom prst="rect">
            <a:avLst/>
          </a:prstGeom>
          <a:solidFill>
            <a:srgbClr val="0E1628"/>
          </a:solidFill>
          <a:ln w="12383">
            <a:solidFill>
              <a:srgbClr val="38BD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3" name=""/>
          <p:cNvSpPr/>
          <p:nvPr/>
        </p:nvSpPr>
        <p:spPr>
          <a:xfrm>
            <a:off x="7543800" y="1828800"/>
            <a:ext cx="66240" cy="66240"/>
          </a:xfrm>
          <a:prstGeom prst="rect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"/>
          <p:cNvSpPr/>
          <p:nvPr/>
        </p:nvSpPr>
        <p:spPr>
          <a:xfrm>
            <a:off x="7753320" y="1752480"/>
            <a:ext cx="255240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Une métrique dit qu'un comportement change.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5" name=""/>
          <p:cNvSpPr/>
          <p:nvPr/>
        </p:nvSpPr>
        <p:spPr>
          <a:xfrm>
            <a:off x="7543800" y="2228760"/>
            <a:ext cx="66240" cy="66240"/>
          </a:xfrm>
          <a:prstGeom prst="rect">
            <a:avLst/>
          </a:prstGeom>
          <a:solidFill>
            <a:srgbClr val="38BDF8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"/>
          <p:cNvSpPr/>
          <p:nvPr/>
        </p:nvSpPr>
        <p:spPr>
          <a:xfrm>
            <a:off x="7753320" y="2152800"/>
            <a:ext cx="255240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Un log donne l'événement précis.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7" name=""/>
          <p:cNvSpPr/>
          <p:nvPr/>
        </p:nvSpPr>
        <p:spPr>
          <a:xfrm>
            <a:off x="7543800" y="2629080"/>
            <a:ext cx="66240" cy="66240"/>
          </a:xfrm>
          <a:prstGeom prst="rect">
            <a:avLst/>
          </a:prstGeom>
          <a:solidFill>
            <a:srgbClr val="A78BFA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8" name=""/>
          <p:cNvSpPr/>
          <p:nvPr/>
        </p:nvSpPr>
        <p:spPr>
          <a:xfrm>
            <a:off x="7753320" y="2552760"/>
            <a:ext cx="255240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Un dashboard adapte la lecture à son audience.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"/>
          <p:cNvSpPr/>
          <p:nvPr/>
        </p:nvSpPr>
        <p:spPr>
          <a:xfrm>
            <a:off x="7543800" y="3029040"/>
            <a:ext cx="66240" cy="6624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21600" rIns="90000" bIns="216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"/>
          <p:cNvSpPr/>
          <p:nvPr/>
        </p:nvSpPr>
        <p:spPr>
          <a:xfrm>
            <a:off x="7753320" y="2952720"/>
            <a:ext cx="2552400" cy="36144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30" b="0" u="none" strike="noStrike">
                <a:solidFill>
                  <a:srgbClr val="F8FAFC"/>
                </a:solidFill>
                <a:effectLst/>
                <a:uFillTx/>
                <a:latin typeface="Aptos"/>
                <a:ea typeface="Aptos"/>
              </a:rPr>
              <a:t>Un bon TP est redéployable depuis ses sources.</a:t>
            </a:r>
            <a:endParaRPr lang="fr-FR" sz="14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1" name=""/>
          <p:cNvSpPr/>
          <p:nvPr/>
        </p:nvSpPr>
        <p:spPr>
          <a:xfrm>
            <a:off x="2457360" y="4610160"/>
            <a:ext cx="5714640" cy="609120"/>
          </a:xfrm>
          <a:prstGeom prst="rect">
            <a:avLst/>
          </a:prstGeom>
          <a:solidFill>
            <a:srgbClr val="070B14"/>
          </a:solidFill>
          <a:ln w="12383">
            <a:solidFill>
              <a:srgbClr val="A78BF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"/>
          <p:cNvSpPr/>
          <p:nvPr/>
        </p:nvSpPr>
        <p:spPr>
          <a:xfrm>
            <a:off x="2629080" y="4781520"/>
            <a:ext cx="5371920" cy="34272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29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next: logs -&gt; traces -&gt; APM</a:t>
            </a:r>
            <a:endParaRPr lang="fr-FR" sz="172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"/>
          <p:cNvSpPr/>
          <p:nvPr/>
        </p:nvSpPr>
        <p:spPr>
          <a:xfrm>
            <a:off x="743040" y="6343560"/>
            <a:ext cx="5905080" cy="20916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Aptos"/>
                <a:ea typeface="Aptos"/>
              </a:rPr>
              <a:t>Cours 2 - ELK stack pour développeurs et support</a:t>
            </a:r>
            <a:endParaRPr lang="fr-F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2026-06-14T10:35:30Z</dcterms:created>
  <dc:creator>Walnut Exporter</dc:creator>
  <dc:description/>
  <dc:language>fr-FR</dc:language>
  <cp:lastModifiedBy/>
  <dcterms:modified xsi:type="dcterms:W3CDTF">2026-06-14T13:32:01Z</dcterms:modified>
  <cp:revision>1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